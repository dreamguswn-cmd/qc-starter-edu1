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7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1" d="100"/>
          <a:sy n="81" d="100"/>
        </p:scale>
        <p:origin x="725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55" name="Google Shape;5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 배경">
  <p:cSld name="본문 배경">
    <p:bg>
      <p:bgPr>
        <a:blipFill>
          <a:blip r:embed="rId2">
            <a:alphaModFix amt="39000"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 rot="5400000">
            <a:off x="75799" y="-75798"/>
            <a:ext cx="605699" cy="757295"/>
          </a:xfrm>
          <a:custGeom>
            <a:avLst/>
            <a:gdLst/>
            <a:ahLst/>
            <a:cxnLst/>
            <a:rect l="l" t="t" r="r" b="b"/>
            <a:pathLst>
              <a:path w="605699" h="757295" extrusionOk="0">
                <a:moveTo>
                  <a:pt x="0" y="757295"/>
                </a:moveTo>
                <a:lnTo>
                  <a:pt x="0" y="0"/>
                </a:lnTo>
                <a:lnTo>
                  <a:pt x="479481" y="0"/>
                </a:lnTo>
                <a:cubicBezTo>
                  <a:pt x="549189" y="0"/>
                  <a:pt x="605699" y="56510"/>
                  <a:pt x="605699" y="126218"/>
                </a:cubicBezTo>
                <a:lnTo>
                  <a:pt x="605699" y="757295"/>
                </a:lnTo>
                <a:lnTo>
                  <a:pt x="0" y="757295"/>
                </a:lnTo>
                <a:close/>
              </a:path>
            </a:pathLst>
          </a:custGeom>
          <a:gradFill>
            <a:gsLst>
              <a:gs pos="0">
                <a:srgbClr val="AFB6FB"/>
              </a:gs>
              <a:gs pos="29000">
                <a:srgbClr val="AFB6FB"/>
              </a:gs>
              <a:gs pos="100000">
                <a:srgbClr val="C2CBF6"/>
              </a:gs>
            </a:gsLst>
            <a:lin ang="87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Google Shape;17;p2"/>
          <p:cNvGrpSpPr/>
          <p:nvPr/>
        </p:nvGrpSpPr>
        <p:grpSpPr>
          <a:xfrm>
            <a:off x="0" y="2510679"/>
            <a:ext cx="12235542" cy="4371611"/>
            <a:chOff x="-1530103" y="2467137"/>
            <a:chExt cx="13722103" cy="4371611"/>
          </a:xfrm>
        </p:grpSpPr>
        <p:sp>
          <p:nvSpPr>
            <p:cNvPr id="18" name="Google Shape;18;p2"/>
            <p:cNvSpPr/>
            <p:nvPr/>
          </p:nvSpPr>
          <p:spPr>
            <a:xfrm>
              <a:off x="2311399" y="2467137"/>
              <a:ext cx="9880601" cy="4371611"/>
            </a:xfrm>
            <a:custGeom>
              <a:avLst/>
              <a:gdLst/>
              <a:ahLst/>
              <a:cxnLst/>
              <a:rect l="l" t="t" r="r" b="b"/>
              <a:pathLst>
                <a:path w="11795760" h="5074920" extrusionOk="0">
                  <a:moveTo>
                    <a:pt x="11750040" y="0"/>
                  </a:moveTo>
                  <a:lnTo>
                    <a:pt x="0" y="5074920"/>
                  </a:lnTo>
                  <a:lnTo>
                    <a:pt x="11795760" y="5044440"/>
                  </a:lnTo>
                  <a:lnTo>
                    <a:pt x="11750040" y="0"/>
                  </a:lnTo>
                  <a:close/>
                </a:path>
              </a:pathLst>
            </a:custGeom>
            <a:gradFill>
              <a:gsLst>
                <a:gs pos="0">
                  <a:srgbClr val="D8D8D8">
                    <a:alpha val="60000"/>
                  </a:srgbClr>
                </a:gs>
                <a:gs pos="1170">
                  <a:srgbClr val="D8D8D8">
                    <a:alpha val="60000"/>
                  </a:srgbClr>
                </a:gs>
                <a:gs pos="56000">
                  <a:srgbClr val="E4E4E4">
                    <a:alpha val="4000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-1530103" y="3657601"/>
              <a:ext cx="5550569" cy="3181147"/>
            </a:xfrm>
            <a:custGeom>
              <a:avLst/>
              <a:gdLst/>
              <a:ahLst/>
              <a:cxnLst/>
              <a:rect l="l" t="t" r="r" b="b"/>
              <a:pathLst>
                <a:path w="5550569" h="5486400" extrusionOk="0">
                  <a:moveTo>
                    <a:pt x="5550569" y="5486400"/>
                  </a:moveTo>
                  <a:lnTo>
                    <a:pt x="0" y="5486400"/>
                  </a:lnTo>
                  <a:lnTo>
                    <a:pt x="0" y="0"/>
                  </a:lnTo>
                  <a:lnTo>
                    <a:pt x="5550569" y="5486400"/>
                  </a:lnTo>
                  <a:close/>
                </a:path>
              </a:pathLst>
            </a:custGeom>
            <a:gradFill>
              <a:gsLst>
                <a:gs pos="0">
                  <a:srgbClr val="D8D8D8">
                    <a:alpha val="42745"/>
                  </a:srgbClr>
                </a:gs>
                <a:gs pos="1170">
                  <a:srgbClr val="D8D8D8">
                    <a:alpha val="42745"/>
                  </a:srgbClr>
                </a:gs>
                <a:gs pos="54000">
                  <a:srgbClr val="BFBFB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인트로">
  <p:cSld name="인트로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10697"/>
          <a:stretch/>
        </p:blipFill>
        <p:spPr>
          <a:xfrm>
            <a:off x="0" y="1"/>
            <a:ext cx="12192000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alpha val="1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주차간지">
  <p:cSld name="주차간지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oogle Shape;24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8967" y="-9728"/>
            <a:ext cx="12200967" cy="686772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" name="Google Shape;25;p4"/>
          <p:cNvGrpSpPr/>
          <p:nvPr/>
        </p:nvGrpSpPr>
        <p:grpSpPr>
          <a:xfrm>
            <a:off x="891915" y="-12700"/>
            <a:ext cx="1242000" cy="2045228"/>
            <a:chOff x="742459" y="4599051"/>
            <a:chExt cx="1361904" cy="1444538"/>
          </a:xfrm>
        </p:grpSpPr>
        <p:sp>
          <p:nvSpPr>
            <p:cNvPr id="26" name="Google Shape;26;p4"/>
            <p:cNvSpPr/>
            <p:nvPr/>
          </p:nvSpPr>
          <p:spPr>
            <a:xfrm>
              <a:off x="766759" y="4599052"/>
              <a:ext cx="1337604" cy="1444537"/>
            </a:xfrm>
            <a:prstGeom prst="rect">
              <a:avLst/>
            </a:prstGeom>
            <a:solidFill>
              <a:srgbClr val="3C76F6">
                <a:alpha val="8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7;p4"/>
            <p:cNvSpPr/>
            <p:nvPr/>
          </p:nvSpPr>
          <p:spPr>
            <a:xfrm>
              <a:off x="742459" y="4599051"/>
              <a:ext cx="1361904" cy="850217"/>
            </a:xfrm>
            <a:prstGeom prst="rect">
              <a:avLst/>
            </a:prstGeom>
            <a:gradFill>
              <a:gsLst>
                <a:gs pos="0">
                  <a:srgbClr val="18184A"/>
                </a:gs>
                <a:gs pos="100000">
                  <a:srgbClr val="24245A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28" name="Google Shape;2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34673" y="1505930"/>
            <a:ext cx="6485676" cy="48998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4"/>
          <p:cNvGrpSpPr/>
          <p:nvPr/>
        </p:nvGrpSpPr>
        <p:grpSpPr>
          <a:xfrm flipH="1">
            <a:off x="-37674" y="2479837"/>
            <a:ext cx="12229674" cy="4371611"/>
            <a:chOff x="-37674" y="2467137"/>
            <a:chExt cx="12229674" cy="4371611"/>
          </a:xfrm>
        </p:grpSpPr>
        <p:sp>
          <p:nvSpPr>
            <p:cNvPr id="30" name="Google Shape;30;p4"/>
            <p:cNvSpPr/>
            <p:nvPr/>
          </p:nvSpPr>
          <p:spPr>
            <a:xfrm>
              <a:off x="2921426" y="2467137"/>
              <a:ext cx="9270574" cy="4371611"/>
            </a:xfrm>
            <a:custGeom>
              <a:avLst/>
              <a:gdLst/>
              <a:ahLst/>
              <a:cxnLst/>
              <a:rect l="l" t="t" r="r" b="b"/>
              <a:pathLst>
                <a:path w="11795760" h="5074920" extrusionOk="0">
                  <a:moveTo>
                    <a:pt x="11750040" y="0"/>
                  </a:moveTo>
                  <a:lnTo>
                    <a:pt x="0" y="5074920"/>
                  </a:lnTo>
                  <a:lnTo>
                    <a:pt x="11795760" y="5044440"/>
                  </a:lnTo>
                  <a:lnTo>
                    <a:pt x="11750040" y="0"/>
                  </a:lnTo>
                  <a:close/>
                </a:path>
              </a:pathLst>
            </a:custGeom>
            <a:gradFill>
              <a:gsLst>
                <a:gs pos="0">
                  <a:srgbClr val="282349"/>
                </a:gs>
                <a:gs pos="1170">
                  <a:srgbClr val="282349"/>
                </a:gs>
                <a:gs pos="56000">
                  <a:srgbClr val="002060">
                    <a:alpha val="69803"/>
                  </a:srgbClr>
                </a:gs>
                <a:gs pos="100000">
                  <a:srgbClr val="595959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>
              <a:off x="-37674" y="3949700"/>
              <a:ext cx="4927600" cy="2889048"/>
            </a:xfrm>
            <a:custGeom>
              <a:avLst/>
              <a:gdLst/>
              <a:ahLst/>
              <a:cxnLst/>
              <a:rect l="l" t="t" r="r" b="b"/>
              <a:pathLst>
                <a:path w="5550569" h="5486400" extrusionOk="0">
                  <a:moveTo>
                    <a:pt x="5550569" y="5486400"/>
                  </a:moveTo>
                  <a:lnTo>
                    <a:pt x="0" y="5486400"/>
                  </a:lnTo>
                  <a:lnTo>
                    <a:pt x="0" y="0"/>
                  </a:lnTo>
                  <a:lnTo>
                    <a:pt x="5550569" y="5486400"/>
                  </a:lnTo>
                  <a:close/>
                </a:path>
              </a:pathLst>
            </a:custGeom>
            <a:gradFill>
              <a:gsLst>
                <a:gs pos="0">
                  <a:srgbClr val="242C4C">
                    <a:alpha val="65098"/>
                  </a:srgbClr>
                </a:gs>
                <a:gs pos="1170">
                  <a:srgbClr val="242C4C">
                    <a:alpha val="65098"/>
                  </a:srgbClr>
                </a:gs>
                <a:gs pos="54000">
                  <a:srgbClr val="2A2C56">
                    <a:alpha val="0"/>
                  </a:srgbClr>
                </a:gs>
                <a:gs pos="100000">
                  <a:srgbClr val="36499A">
                    <a:alpha val="8000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주차간지">
  <p:cSld name="2_주차간지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10800000" flipH="1">
            <a:off x="-2" y="-12700"/>
            <a:ext cx="12192001" cy="6870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/>
          <p:nvPr/>
        </p:nvSpPr>
        <p:spPr>
          <a:xfrm>
            <a:off x="4905828" y="2757714"/>
            <a:ext cx="7286171" cy="4093734"/>
          </a:xfrm>
          <a:custGeom>
            <a:avLst/>
            <a:gdLst/>
            <a:ahLst/>
            <a:cxnLst/>
            <a:rect l="l" t="t" r="r" b="b"/>
            <a:pathLst>
              <a:path w="11795760" h="5074920" extrusionOk="0">
                <a:moveTo>
                  <a:pt x="11750040" y="0"/>
                </a:moveTo>
                <a:lnTo>
                  <a:pt x="0" y="5074920"/>
                </a:lnTo>
                <a:lnTo>
                  <a:pt x="11795760" y="5044440"/>
                </a:lnTo>
                <a:lnTo>
                  <a:pt x="11750040" y="0"/>
                </a:lnTo>
                <a:close/>
              </a:path>
            </a:pathLst>
          </a:custGeom>
          <a:gradFill>
            <a:gsLst>
              <a:gs pos="0">
                <a:srgbClr val="282349">
                  <a:alpha val="60000"/>
                </a:srgbClr>
              </a:gs>
              <a:gs pos="1170">
                <a:srgbClr val="282349">
                  <a:alpha val="60000"/>
                </a:srgbClr>
              </a:gs>
              <a:gs pos="56000">
                <a:srgbClr val="002060">
                  <a:alpha val="29803"/>
                </a:srgbClr>
              </a:gs>
              <a:gs pos="100000">
                <a:srgbClr val="595959">
                  <a:alpha val="0"/>
                </a:srgbClr>
              </a:gs>
            </a:gsLst>
            <a:lin ang="7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-1530103" y="3421380"/>
            <a:ext cx="4860043" cy="3417368"/>
          </a:xfrm>
          <a:custGeom>
            <a:avLst/>
            <a:gdLst/>
            <a:ahLst/>
            <a:cxnLst/>
            <a:rect l="l" t="t" r="r" b="b"/>
            <a:pathLst>
              <a:path w="5550569" h="5486400" extrusionOk="0">
                <a:moveTo>
                  <a:pt x="5550569" y="5486400"/>
                </a:moveTo>
                <a:lnTo>
                  <a:pt x="0" y="5486400"/>
                </a:lnTo>
                <a:lnTo>
                  <a:pt x="0" y="0"/>
                </a:lnTo>
                <a:lnTo>
                  <a:pt x="5550569" y="5486400"/>
                </a:lnTo>
                <a:close/>
              </a:path>
            </a:pathLst>
          </a:custGeom>
          <a:gradFill>
            <a:gsLst>
              <a:gs pos="0">
                <a:srgbClr val="242940">
                  <a:alpha val="29803"/>
                </a:srgbClr>
              </a:gs>
              <a:gs pos="1170">
                <a:srgbClr val="242940">
                  <a:alpha val="29803"/>
                </a:srgbClr>
              </a:gs>
              <a:gs pos="54000">
                <a:srgbClr val="2A2C56">
                  <a:alpha val="0"/>
                </a:srgbClr>
              </a:gs>
              <a:gs pos="100000">
                <a:srgbClr val="595959">
                  <a:alpha val="0"/>
                </a:srgbClr>
              </a:gs>
            </a:gsLst>
            <a:lin ang="120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59763" y="2869660"/>
            <a:ext cx="5418220" cy="40933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기본">
  <p:cSld name="기본">
    <p:bg>
      <p:bgPr>
        <a:solidFill>
          <a:schemeClr val="lt1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oogle Shape;38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9" name="Google Shape;39;p6"/>
          <p:cNvGrpSpPr/>
          <p:nvPr/>
        </p:nvGrpSpPr>
        <p:grpSpPr>
          <a:xfrm>
            <a:off x="-1530103" y="2467137"/>
            <a:ext cx="13722103" cy="4371611"/>
            <a:chOff x="-1530103" y="2467137"/>
            <a:chExt cx="13722103" cy="4371611"/>
          </a:xfrm>
        </p:grpSpPr>
        <p:sp>
          <p:nvSpPr>
            <p:cNvPr id="40" name="Google Shape;40;p6"/>
            <p:cNvSpPr/>
            <p:nvPr/>
          </p:nvSpPr>
          <p:spPr>
            <a:xfrm>
              <a:off x="2311399" y="2467137"/>
              <a:ext cx="9880601" cy="4371611"/>
            </a:xfrm>
            <a:custGeom>
              <a:avLst/>
              <a:gdLst/>
              <a:ahLst/>
              <a:cxnLst/>
              <a:rect l="l" t="t" r="r" b="b"/>
              <a:pathLst>
                <a:path w="11795760" h="5074920" extrusionOk="0">
                  <a:moveTo>
                    <a:pt x="11750040" y="0"/>
                  </a:moveTo>
                  <a:lnTo>
                    <a:pt x="0" y="5074920"/>
                  </a:lnTo>
                  <a:lnTo>
                    <a:pt x="11795760" y="5044440"/>
                  </a:lnTo>
                  <a:lnTo>
                    <a:pt x="11750040" y="0"/>
                  </a:lnTo>
                  <a:close/>
                </a:path>
              </a:pathLst>
            </a:custGeom>
            <a:gradFill>
              <a:gsLst>
                <a:gs pos="0">
                  <a:srgbClr val="282349">
                    <a:alpha val="40000"/>
                  </a:srgbClr>
                </a:gs>
                <a:gs pos="1170">
                  <a:srgbClr val="282349">
                    <a:alpha val="40000"/>
                  </a:srgbClr>
                </a:gs>
                <a:gs pos="56000">
                  <a:srgbClr val="002060">
                    <a:alpha val="20000"/>
                  </a:srgbClr>
                </a:gs>
                <a:gs pos="100000">
                  <a:srgbClr val="595959">
                    <a:alpha val="0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-1530103" y="2928395"/>
              <a:ext cx="5997931" cy="3910353"/>
            </a:xfrm>
            <a:custGeom>
              <a:avLst/>
              <a:gdLst/>
              <a:ahLst/>
              <a:cxnLst/>
              <a:rect l="l" t="t" r="r" b="b"/>
              <a:pathLst>
                <a:path w="5550569" h="5486400" extrusionOk="0">
                  <a:moveTo>
                    <a:pt x="5550569" y="5486400"/>
                  </a:moveTo>
                  <a:lnTo>
                    <a:pt x="0" y="5486400"/>
                  </a:lnTo>
                  <a:lnTo>
                    <a:pt x="0" y="0"/>
                  </a:lnTo>
                  <a:lnTo>
                    <a:pt x="5550569" y="5486400"/>
                  </a:lnTo>
                  <a:close/>
                </a:path>
              </a:pathLst>
            </a:custGeom>
            <a:gradFill>
              <a:gsLst>
                <a:gs pos="0">
                  <a:srgbClr val="242940">
                    <a:alpha val="54901"/>
                  </a:srgbClr>
                </a:gs>
                <a:gs pos="1170">
                  <a:srgbClr val="242940">
                    <a:alpha val="54901"/>
                  </a:srgbClr>
                </a:gs>
                <a:gs pos="54000">
                  <a:srgbClr val="2A2C56">
                    <a:alpha val="0"/>
                  </a:srgbClr>
                </a:gs>
                <a:gs pos="100000">
                  <a:srgbClr val="595959">
                    <a:alpha val="0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본문 학습정리">
  <p:cSld name="본문 학습정리">
    <p:bg>
      <p:bgPr>
        <a:solidFill>
          <a:schemeClr val="lt1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7"/>
          <p:cNvSpPr/>
          <p:nvPr/>
        </p:nvSpPr>
        <p:spPr>
          <a:xfrm>
            <a:off x="0" y="1243583"/>
            <a:ext cx="12192000" cy="5614417"/>
          </a:xfrm>
          <a:prstGeom prst="round1Rect">
            <a:avLst>
              <a:gd name="adj" fmla="val 0"/>
            </a:avLst>
          </a:prstGeom>
          <a:gradFill>
            <a:gsLst>
              <a:gs pos="0">
                <a:srgbClr val="FFFFFF">
                  <a:alpha val="81960"/>
                </a:srgbClr>
              </a:gs>
              <a:gs pos="99000">
                <a:srgbClr val="FFFFFF">
                  <a:alpha val="96862"/>
                </a:srgbClr>
              </a:gs>
              <a:gs pos="100000">
                <a:srgbClr val="FFFFFF">
                  <a:alpha val="96862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  <a:effectLst>
            <a:outerShdw blurRad="393700" dist="190500" dir="16200000" rotWithShape="0">
              <a:srgbClr val="000000">
                <a:alpha val="2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학습퀴즈" type="blank">
  <p:cSld name="BLANK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8"/>
          <p:cNvSpPr/>
          <p:nvPr/>
        </p:nvSpPr>
        <p:spPr>
          <a:xfrm>
            <a:off x="-277630" y="1338020"/>
            <a:ext cx="13496759" cy="7128956"/>
          </a:xfrm>
          <a:prstGeom prst="round1Rect">
            <a:avLst>
              <a:gd name="adj" fmla="val 9099"/>
            </a:avLst>
          </a:prstGeom>
          <a:gradFill>
            <a:gsLst>
              <a:gs pos="0">
                <a:srgbClr val="FAF7FC"/>
              </a:gs>
              <a:gs pos="100000">
                <a:srgbClr val="FFFFFF">
                  <a:alpha val="80000"/>
                </a:srgbClr>
              </a:gs>
            </a:gsLst>
            <a:lin ang="16200000" scaled="0"/>
          </a:gradFill>
          <a:ln>
            <a:noFill/>
          </a:ln>
          <a:effectLst>
            <a:outerShdw blurRad="177800" dist="38100" dir="16200000" rotWithShape="0">
              <a:srgbClr val="000000">
                <a:alpha val="392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참고문헌">
  <p:cSld name="참고문헌"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10"/>
          <p:cNvSpPr/>
          <p:nvPr/>
        </p:nvSpPr>
        <p:spPr>
          <a:xfrm>
            <a:off x="774701" y="1282701"/>
            <a:ext cx="10744199" cy="5041900"/>
          </a:xfrm>
          <a:prstGeom prst="roundRect">
            <a:avLst>
              <a:gd name="adj" fmla="val 0"/>
            </a:avLst>
          </a:prstGeom>
          <a:solidFill>
            <a:schemeClr val="lt1">
              <a:alpha val="34901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/>
        </p:nvSpPr>
        <p:spPr>
          <a:xfrm>
            <a:off x="813385" y="834174"/>
            <a:ext cx="1025149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분석과제 정의 예시</a:t>
            </a:r>
            <a:endParaRPr sz="2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8" name="Google Shape;58;p11"/>
          <p:cNvGrpSpPr/>
          <p:nvPr/>
        </p:nvGrpSpPr>
        <p:grpSpPr>
          <a:xfrm>
            <a:off x="0" y="57324"/>
            <a:ext cx="3002189" cy="630942"/>
            <a:chOff x="0" y="333549"/>
            <a:chExt cx="3002189" cy="630942"/>
          </a:xfrm>
        </p:grpSpPr>
        <p:sp>
          <p:nvSpPr>
            <p:cNvPr id="59" name="Google Shape;59;p11"/>
            <p:cNvSpPr txBox="1"/>
            <p:nvPr/>
          </p:nvSpPr>
          <p:spPr>
            <a:xfrm>
              <a:off x="714383" y="489248"/>
              <a:ext cx="2287806" cy="3847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9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빅데이터분석 기획 실습</a:t>
              </a:r>
              <a:endParaRPr sz="1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1"/>
            <p:cNvSpPr txBox="1"/>
            <p:nvPr/>
          </p:nvSpPr>
          <p:spPr>
            <a:xfrm>
              <a:off x="0" y="333549"/>
              <a:ext cx="714383" cy="6309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33CC"/>
                </a:buClr>
                <a:buSzPts val="3500"/>
                <a:buFont typeface="Arial"/>
                <a:buNone/>
              </a:pPr>
              <a:r>
                <a:rPr lang="ko-KR" sz="3500" b="0" i="0" u="none" strike="noStrike" cap="none">
                  <a:solidFill>
                    <a:srgbClr val="0033CC"/>
                  </a:solidFill>
                  <a:latin typeface="Arial"/>
                  <a:ea typeface="Arial"/>
                  <a:cs typeface="Arial"/>
                  <a:sym typeface="Arial"/>
                </a:rPr>
                <a:t>01</a:t>
              </a:r>
              <a:endParaRPr sz="3500" b="0" i="0" u="none" strike="noStrike" cap="none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" name="Google Shape;61;p11"/>
          <p:cNvSpPr txBox="1"/>
          <p:nvPr/>
        </p:nvSpPr>
        <p:spPr>
          <a:xfrm>
            <a:off x="441930" y="798779"/>
            <a:ext cx="534622" cy="477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FA2FF"/>
              </a:buClr>
              <a:buSzPts val="3400"/>
              <a:buFont typeface="Arial"/>
              <a:buNone/>
            </a:pPr>
            <a:r>
              <a:rPr lang="ko-KR" sz="3400" b="0" i="0" u="none" strike="noStrike" cap="none">
                <a:solidFill>
                  <a:srgbClr val="8FA2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3400" b="0" i="0" u="none" strike="noStrike" cap="none">
              <a:solidFill>
                <a:srgbClr val="8FA2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" name="Google Shape;62;p11"/>
          <p:cNvGrpSpPr/>
          <p:nvPr/>
        </p:nvGrpSpPr>
        <p:grpSpPr>
          <a:xfrm>
            <a:off x="892450" y="1647941"/>
            <a:ext cx="3678138" cy="2311357"/>
            <a:chOff x="892450" y="1349920"/>
            <a:chExt cx="3678138" cy="2530250"/>
          </a:xfrm>
        </p:grpSpPr>
        <p:grpSp>
          <p:nvGrpSpPr>
            <p:cNvPr id="63" name="Google Shape;63;p11"/>
            <p:cNvGrpSpPr/>
            <p:nvPr/>
          </p:nvGrpSpPr>
          <p:grpSpPr>
            <a:xfrm>
              <a:off x="1449507" y="1349920"/>
              <a:ext cx="3121081" cy="2530250"/>
              <a:chOff x="633" y="1804"/>
              <a:chExt cx="3351" cy="612"/>
            </a:xfrm>
          </p:grpSpPr>
          <p:sp>
            <p:nvSpPr>
              <p:cNvPr id="64" name="Google Shape;64;p11"/>
              <p:cNvSpPr/>
              <p:nvPr/>
            </p:nvSpPr>
            <p:spPr>
              <a:xfrm>
                <a:off x="741" y="1813"/>
                <a:ext cx="3243" cy="603"/>
              </a:xfrm>
              <a:prstGeom prst="roundRect">
                <a:avLst>
                  <a:gd name="adj" fmla="val 1616"/>
                </a:avLst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14606097" algn="ctr" rotWithShape="0">
                  <a:srgbClr val="C0CFE8"/>
                </a:outerShdw>
              </a:effectLst>
            </p:spPr>
            <p:txBody>
              <a:bodyPr spcFirstLastPara="1" wrap="square" lIns="97125" tIns="50500" rIns="97125" bIns="50500" anchor="ctr" anchorCtr="0">
                <a:noAutofit/>
              </a:bodyPr>
              <a:lstStyle/>
              <a:p>
                <a:pPr marL="0" marR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11"/>
              <p:cNvSpPr/>
              <p:nvPr/>
            </p:nvSpPr>
            <p:spPr>
              <a:xfrm>
                <a:off x="633" y="1804"/>
                <a:ext cx="3151" cy="599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19425" tIns="19425" rIns="19425" bIns="19425" anchor="ctr" anchorCtr="0">
                <a:noAutofit/>
              </a:bodyPr>
              <a:lstStyle/>
              <a:p>
                <a:pPr marL="342900" marR="0" lvl="0" indent="-34290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50F0"/>
                  </a:buClr>
                  <a:buSzPts val="1650"/>
                  <a:buFont typeface="Arial"/>
                  <a:buChar char="•"/>
                </a:pP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만 40~64세 </a:t>
                </a:r>
                <a:r>
                  <a:rPr lang="ko-KR" sz="1100" b="0" i="0" u="none" strike="noStrike" cap="none" dirty="0" err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중장년층</a:t>
                </a: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실업률 지속 상승 추세</a:t>
                </a: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4290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50F0"/>
                  </a:buClr>
                  <a:buSzPts val="1650"/>
                  <a:buFont typeface="Arial"/>
                  <a:buChar char="•"/>
                </a:pP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디지털 전환 가속화로 직무 역량 미스매치 심화</a:t>
                </a: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4290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50F0"/>
                  </a:buClr>
                  <a:buSzPts val="1650"/>
                  <a:buFont typeface="Arial"/>
                  <a:buChar char="•"/>
                </a:pP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재취업 소요 기간이 청년층 대비 2~3배 장기화</a:t>
                </a: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6" name="Google Shape;66;p11"/>
            <p:cNvSpPr/>
            <p:nvPr/>
          </p:nvSpPr>
          <p:spPr>
            <a:xfrm>
              <a:off x="892450" y="1403599"/>
              <a:ext cx="618465" cy="2476568"/>
            </a:xfrm>
            <a:prstGeom prst="rect">
              <a:avLst/>
            </a:prstGeom>
            <a:solidFill>
              <a:srgbClr val="BBD6EE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문제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현황</a:t>
              </a:r>
              <a:endParaRPr/>
            </a:p>
          </p:txBody>
        </p:sp>
      </p:grpSp>
      <p:sp>
        <p:nvSpPr>
          <p:cNvPr id="67" name="Google Shape;67;p11"/>
          <p:cNvSpPr/>
          <p:nvPr/>
        </p:nvSpPr>
        <p:spPr>
          <a:xfrm>
            <a:off x="4991391" y="1660950"/>
            <a:ext cx="2601101" cy="475513"/>
          </a:xfrm>
          <a:prstGeom prst="roundRect">
            <a:avLst>
              <a:gd name="adj" fmla="val 2856"/>
            </a:avLst>
          </a:prstGeom>
          <a:solidFill>
            <a:srgbClr val="8296B0"/>
          </a:solidFill>
          <a:ln w="9525" cap="flat" cmpd="sng">
            <a:solidFill>
              <a:srgbClr val="7F7F7F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개인 역량·취업 이력 데이터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1"/>
          <p:cNvSpPr/>
          <p:nvPr/>
        </p:nvSpPr>
        <p:spPr>
          <a:xfrm>
            <a:off x="4943851" y="2395303"/>
            <a:ext cx="2677805" cy="1563992"/>
          </a:xfrm>
          <a:prstGeom prst="roundRect">
            <a:avLst>
              <a:gd name="adj" fmla="val 2856"/>
            </a:avLst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1"/>
          <p:cNvSpPr txBox="1"/>
          <p:nvPr/>
        </p:nvSpPr>
        <p:spPr>
          <a:xfrm>
            <a:off x="5028011" y="2126134"/>
            <a:ext cx="250948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활용 데이터</a:t>
            </a:r>
            <a:endParaRPr dirty="0"/>
          </a:p>
        </p:txBody>
      </p:sp>
      <p:sp>
        <p:nvSpPr>
          <p:cNvPr id="70" name="Google Shape;70;p11"/>
          <p:cNvSpPr txBox="1"/>
          <p:nvPr/>
        </p:nvSpPr>
        <p:spPr>
          <a:xfrm>
            <a:off x="5181550" y="2540591"/>
            <a:ext cx="2159273" cy="1382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중장년층</a:t>
            </a:r>
            <a:r>
              <a:rPr lang="ko-K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디지털 역량 진단 설문 데이터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고용보험 DB </a:t>
            </a:r>
            <a:r>
              <a:rPr lang="ko-KR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취업·실업급여</a:t>
            </a:r>
            <a:r>
              <a:rPr lang="ko-K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이력 데이터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고용복지플러스센터 교육 참여 이력 데이터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11"/>
          <p:cNvGrpSpPr/>
          <p:nvPr/>
        </p:nvGrpSpPr>
        <p:grpSpPr>
          <a:xfrm>
            <a:off x="888023" y="4086513"/>
            <a:ext cx="3682566" cy="2335894"/>
            <a:chOff x="888023" y="4007385"/>
            <a:chExt cx="3682566" cy="2493040"/>
          </a:xfrm>
        </p:grpSpPr>
        <p:grpSp>
          <p:nvGrpSpPr>
            <p:cNvPr id="72" name="Google Shape;72;p11"/>
            <p:cNvGrpSpPr/>
            <p:nvPr/>
          </p:nvGrpSpPr>
          <p:grpSpPr>
            <a:xfrm>
              <a:off x="1545670" y="4007385"/>
              <a:ext cx="3024919" cy="2493040"/>
              <a:chOff x="741" y="1813"/>
              <a:chExt cx="3243" cy="603"/>
            </a:xfrm>
          </p:grpSpPr>
          <p:sp>
            <p:nvSpPr>
              <p:cNvPr id="73" name="Google Shape;73;p11"/>
              <p:cNvSpPr/>
              <p:nvPr/>
            </p:nvSpPr>
            <p:spPr>
              <a:xfrm>
                <a:off x="741" y="1813"/>
                <a:ext cx="3243" cy="603"/>
              </a:xfrm>
              <a:prstGeom prst="roundRect">
                <a:avLst>
                  <a:gd name="adj" fmla="val 1616"/>
                </a:avLst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14606097" algn="ctr" rotWithShape="0">
                  <a:srgbClr val="C0CFE8"/>
                </a:outerShdw>
              </a:effectLst>
            </p:spPr>
            <p:txBody>
              <a:bodyPr spcFirstLastPara="1" wrap="square" lIns="97125" tIns="50500" rIns="97125" bIns="505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11"/>
              <p:cNvSpPr/>
              <p:nvPr/>
            </p:nvSpPr>
            <p:spPr>
              <a:xfrm>
                <a:off x="741" y="1908"/>
                <a:ext cx="3151" cy="461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19425" tIns="19425" rIns="19425" bIns="19425" anchor="ctr" anchorCtr="0">
                <a:noAutofit/>
              </a:bodyPr>
              <a:lstStyle/>
              <a:p>
                <a:pPr marL="342900" marR="0" lvl="0" indent="-34290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50F0"/>
                  </a:buClr>
                  <a:buSzPts val="1650"/>
                  <a:buFont typeface="Arial"/>
                  <a:buChar char="•"/>
                </a:pPr>
                <a:r>
                  <a:rPr lang="ko-KR" sz="1100" b="0" i="0" u="none" strike="noStrike" cap="none" dirty="0" err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스마트기기·소프트웨어</a:t>
                </a: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활용 능력 상대적 부족</a:t>
                </a: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4290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50F0"/>
                  </a:buClr>
                  <a:buSzPts val="1650"/>
                  <a:buFont typeface="Arial"/>
                  <a:buChar char="•"/>
                </a:pP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디지털 직무 교육 기회의 연령별 불균등 분포</a:t>
                </a: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4290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50F0"/>
                  </a:buClr>
                  <a:buSzPts val="1650"/>
                  <a:buFont typeface="Arial"/>
                  <a:buChar char="•"/>
                </a:pP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기업의 디지털 </a:t>
                </a:r>
                <a:r>
                  <a:rPr lang="ko-KR" sz="1100" b="0" i="0" u="none" strike="noStrike" cap="none" dirty="0" err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리터러시</a:t>
                </a: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중심 채용 기준 강화</a:t>
                </a: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5" name="Google Shape;75;p11"/>
            <p:cNvSpPr/>
            <p:nvPr/>
          </p:nvSpPr>
          <p:spPr>
            <a:xfrm>
              <a:off x="888023" y="4007385"/>
              <a:ext cx="618465" cy="2493038"/>
            </a:xfrm>
            <a:prstGeom prst="rect">
              <a:avLst/>
            </a:prstGeom>
            <a:solidFill>
              <a:srgbClr val="BBD6EE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발생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원인</a:t>
              </a:r>
              <a:endParaRPr/>
            </a:p>
          </p:txBody>
        </p:sp>
      </p:grpSp>
      <p:grpSp>
        <p:nvGrpSpPr>
          <p:cNvPr id="76" name="Google Shape;76;p11"/>
          <p:cNvGrpSpPr/>
          <p:nvPr/>
        </p:nvGrpSpPr>
        <p:grpSpPr>
          <a:xfrm>
            <a:off x="7926136" y="1681933"/>
            <a:ext cx="3629322" cy="2277366"/>
            <a:chOff x="7967731" y="1387128"/>
            <a:chExt cx="3629322" cy="2493040"/>
          </a:xfrm>
        </p:grpSpPr>
        <p:grpSp>
          <p:nvGrpSpPr>
            <p:cNvPr id="77" name="Google Shape;77;p11"/>
            <p:cNvGrpSpPr/>
            <p:nvPr/>
          </p:nvGrpSpPr>
          <p:grpSpPr>
            <a:xfrm>
              <a:off x="8625378" y="1387128"/>
              <a:ext cx="2971675" cy="2493040"/>
              <a:chOff x="741" y="1813"/>
              <a:chExt cx="3243" cy="603"/>
            </a:xfrm>
          </p:grpSpPr>
          <p:sp>
            <p:nvSpPr>
              <p:cNvPr id="78" name="Google Shape;78;p11"/>
              <p:cNvSpPr/>
              <p:nvPr/>
            </p:nvSpPr>
            <p:spPr>
              <a:xfrm>
                <a:off x="741" y="1813"/>
                <a:ext cx="3243" cy="603"/>
              </a:xfrm>
              <a:prstGeom prst="roundRect">
                <a:avLst>
                  <a:gd name="adj" fmla="val 1616"/>
                </a:avLst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14606097" algn="ctr" rotWithShape="0">
                  <a:srgbClr val="C0CFE8"/>
                </a:outerShdw>
              </a:effectLst>
            </p:spPr>
            <p:txBody>
              <a:bodyPr spcFirstLastPara="1" wrap="square" lIns="97125" tIns="50500" rIns="97125" bIns="505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1"/>
              <p:cNvSpPr/>
              <p:nvPr/>
            </p:nvSpPr>
            <p:spPr>
              <a:xfrm>
                <a:off x="773" y="1955"/>
                <a:ext cx="3151" cy="461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19425" tIns="19425" rIns="19425" bIns="19425" anchor="ctr" anchorCtr="0">
                <a:noAutofit/>
              </a:bodyPr>
              <a:lstStyle/>
              <a:p>
                <a:pPr marL="342900" marR="0" lvl="0" indent="-34290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50F0"/>
                  </a:buClr>
                  <a:buSzPts val="1650"/>
                  <a:buFont typeface="Arial"/>
                  <a:buChar char="•"/>
                </a:pP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로지스틱 회귀분석으로 취업 성공 예측 모델 구축</a:t>
                </a: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4290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50F0"/>
                  </a:buClr>
                  <a:buSzPts val="1650"/>
                  <a:buFont typeface="Arial"/>
                  <a:buChar char="•"/>
                </a:pP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디지털 교육 이수 집단 간 취업률 비교(</a:t>
                </a:r>
                <a:r>
                  <a:rPr lang="ko-KR" sz="1100" b="0" i="0" u="none" strike="noStrike" cap="none" dirty="0" err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t</a:t>
                </a: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-검정)</a:t>
                </a: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4290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50F0"/>
                  </a:buClr>
                  <a:buSzPts val="1650"/>
                  <a:buFont typeface="Arial"/>
                  <a:buChar char="•"/>
                </a:pP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역량 수준별 집단 분류 및 ANOVA 분석 적용</a:t>
                </a: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0" name="Google Shape;80;p11"/>
            <p:cNvSpPr/>
            <p:nvPr/>
          </p:nvSpPr>
          <p:spPr>
            <a:xfrm>
              <a:off x="7967731" y="1403599"/>
              <a:ext cx="618465" cy="2476568"/>
            </a:xfrm>
            <a:prstGeom prst="rect">
              <a:avLst/>
            </a:prstGeom>
            <a:solidFill>
              <a:srgbClr val="BBD6EE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분석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모델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생성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" name="Google Shape;81;p11"/>
          <p:cNvGrpSpPr/>
          <p:nvPr/>
        </p:nvGrpSpPr>
        <p:grpSpPr>
          <a:xfrm>
            <a:off x="7963306" y="4086512"/>
            <a:ext cx="3633748" cy="2428862"/>
            <a:chOff x="7963306" y="4007384"/>
            <a:chExt cx="3633748" cy="2592265"/>
          </a:xfrm>
        </p:grpSpPr>
        <p:grpSp>
          <p:nvGrpSpPr>
            <p:cNvPr id="82" name="Google Shape;82;p11"/>
            <p:cNvGrpSpPr/>
            <p:nvPr/>
          </p:nvGrpSpPr>
          <p:grpSpPr>
            <a:xfrm>
              <a:off x="8620953" y="4007384"/>
              <a:ext cx="2976101" cy="2592265"/>
              <a:chOff x="741" y="1813"/>
              <a:chExt cx="3243" cy="627"/>
            </a:xfrm>
          </p:grpSpPr>
          <p:sp>
            <p:nvSpPr>
              <p:cNvPr id="83" name="Google Shape;83;p11"/>
              <p:cNvSpPr/>
              <p:nvPr/>
            </p:nvSpPr>
            <p:spPr>
              <a:xfrm>
                <a:off x="741" y="1813"/>
                <a:ext cx="3243" cy="603"/>
              </a:xfrm>
              <a:prstGeom prst="roundRect">
                <a:avLst>
                  <a:gd name="adj" fmla="val 1616"/>
                </a:avLst>
              </a:prstGeom>
              <a:noFill/>
              <a:ln w="9525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  <a:effectLst>
                <a:outerShdw dist="28398" dir="14606097" algn="ctr" rotWithShape="0">
                  <a:srgbClr val="C0CFE8"/>
                </a:outerShdw>
              </a:effectLst>
            </p:spPr>
            <p:txBody>
              <a:bodyPr spcFirstLastPara="1" wrap="square" lIns="97125" tIns="50500" rIns="97125" bIns="505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11"/>
              <p:cNvSpPr/>
              <p:nvPr/>
            </p:nvSpPr>
            <p:spPr>
              <a:xfrm>
                <a:off x="741" y="1979"/>
                <a:ext cx="3151" cy="461"/>
              </a:xfrm>
              <a:prstGeom prst="roundRect">
                <a:avLst>
                  <a:gd name="adj" fmla="val 16667"/>
                </a:avLst>
              </a:prstGeom>
              <a:noFill/>
              <a:ln>
                <a:noFill/>
              </a:ln>
            </p:spPr>
            <p:txBody>
              <a:bodyPr spcFirstLastPara="1" wrap="square" lIns="19425" tIns="19425" rIns="19425" bIns="19425" anchor="ctr" anchorCtr="0">
                <a:noAutofit/>
              </a:bodyPr>
              <a:lstStyle/>
              <a:p>
                <a:pPr marL="342900" marR="0" lvl="0" indent="-34290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50F0"/>
                  </a:buClr>
                  <a:buSzPts val="1650"/>
                  <a:buFont typeface="Arial"/>
                  <a:buChar char="•"/>
                </a:pP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디지털 역량과 취업률 간 인과관계 실증 및 근거 마련</a:t>
                </a: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4290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50F0"/>
                  </a:buClr>
                  <a:buSzPts val="1650"/>
                  <a:buFont typeface="Arial"/>
                  <a:buChar char="•"/>
                </a:pPr>
                <a:r>
                  <a:rPr lang="ko-KR" sz="1100" b="0" i="0" u="none" strike="noStrike" cap="none" dirty="0" err="1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고효과</a:t>
                </a: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교육 프로그램 식별로 정책 우선순위 결정</a:t>
                </a: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342900" marR="0" lvl="0" indent="-342900" algn="l" rtl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50F0"/>
                  </a:buClr>
                  <a:buSzPts val="1650"/>
                  <a:buFont typeface="Arial"/>
                  <a:buChar char="•"/>
                </a:pPr>
                <a:r>
                  <a:rPr lang="ko-KR" sz="1100" b="0" i="0" u="none" strike="noStrike" cap="none" dirty="0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개인별 역량 수준에 맞는 재취업 경로 설계 지원</a:t>
                </a:r>
                <a:endParaRPr sz="1100" b="0" i="0" u="none" strike="noStrike" cap="none" dirty="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5" name="Google Shape;85;p11"/>
            <p:cNvSpPr/>
            <p:nvPr/>
          </p:nvSpPr>
          <p:spPr>
            <a:xfrm>
              <a:off x="7963306" y="4023855"/>
              <a:ext cx="618465" cy="2476568"/>
            </a:xfrm>
            <a:prstGeom prst="rect">
              <a:avLst/>
            </a:prstGeom>
            <a:solidFill>
              <a:srgbClr val="BBD6EE"/>
            </a:solidFill>
            <a:ln w="9525" cap="flat" cmpd="sng">
              <a:solidFill>
                <a:srgbClr val="FFFFFF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활용</a:t>
              </a: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sz="12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효과</a:t>
              </a:r>
              <a:endParaRPr/>
            </a:p>
          </p:txBody>
        </p:sp>
      </p:grpSp>
      <p:sp>
        <p:nvSpPr>
          <p:cNvPr id="86" name="Google Shape;86;p11"/>
          <p:cNvSpPr/>
          <p:nvPr/>
        </p:nvSpPr>
        <p:spPr>
          <a:xfrm>
            <a:off x="4966397" y="4043797"/>
            <a:ext cx="2601101" cy="489803"/>
          </a:xfrm>
          <a:prstGeom prst="roundRect">
            <a:avLst>
              <a:gd name="adj" fmla="val 2856"/>
            </a:avLst>
          </a:prstGeom>
          <a:solidFill>
            <a:srgbClr val="8296B0"/>
          </a:solidFill>
          <a:ln w="9525" cap="flat" cmpd="sng">
            <a:solidFill>
              <a:srgbClr val="7F7F7F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한국고용정보원 · 통계청 · 고용노동부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4947948" y="4819718"/>
            <a:ext cx="2677805" cy="1602689"/>
          </a:xfrm>
          <a:prstGeom prst="roundRect">
            <a:avLst>
              <a:gd name="adj" fmla="val 2856"/>
            </a:avLst>
          </a:prstGeom>
          <a:solidFill>
            <a:srgbClr val="F2F2F2"/>
          </a:solidFill>
          <a:ln w="9525" cap="flat" cmpd="sng">
            <a:solidFill>
              <a:srgbClr val="7F7F7F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4831340" y="4618103"/>
            <a:ext cx="2509483" cy="164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관련 데이터 제공처</a:t>
            </a:r>
            <a:endParaRPr sz="1100" b="1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1"/>
          <p:cNvSpPr txBox="1"/>
          <p:nvPr/>
        </p:nvSpPr>
        <p:spPr>
          <a:xfrm>
            <a:off x="5185648" y="4851237"/>
            <a:ext cx="2159273" cy="26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한국고용정보원 고용보험 데이터베이스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통계청 경제활동인구조사 마이크로데이터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85725" marR="0" lvl="0" indent="-8572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▪"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고용노동부 HRD-Net 교육 이수 데이터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1"/>
          <p:cNvSpPr/>
          <p:nvPr/>
        </p:nvSpPr>
        <p:spPr>
          <a:xfrm>
            <a:off x="906854" y="1290030"/>
            <a:ext cx="1862724" cy="319261"/>
          </a:xfrm>
          <a:prstGeom prst="roundRect">
            <a:avLst>
              <a:gd name="adj" fmla="val 2856"/>
            </a:avLst>
          </a:prstGeom>
          <a:solidFill>
            <a:srgbClr val="8296B0"/>
          </a:solidFill>
          <a:ln w="9525" cap="flat" cmpd="sng">
            <a:solidFill>
              <a:srgbClr val="7F7F7F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분석 목적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2863046" y="1290329"/>
            <a:ext cx="8692711" cy="319261"/>
          </a:xfrm>
          <a:prstGeom prst="roundRect">
            <a:avLst>
              <a:gd name="adj" fmla="val 2856"/>
            </a:avLst>
          </a:prstGeom>
          <a:solidFill>
            <a:srgbClr val="D5DBE5"/>
          </a:solidFill>
          <a:ln w="9525" cap="flat" cmpd="sng">
            <a:solidFill>
              <a:srgbClr val="7F7F7F"/>
            </a:solidFill>
            <a:prstDash val="dot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중장년층(만 40~64세)의 디지털 역량 수준이 재취업 성공률에 미치는 영향을 분석하여, 디지털 교육 정책 및 취업 지원 프로그램의 효과를 검증하고 맞춤형 교육 방향을 제시한다.</a:t>
            </a:r>
            <a:endParaRPr sz="1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8257685-0FF5-47BC-9DC5-94E5076E889E}"/>
              </a:ext>
            </a:extLst>
          </p:cNvPr>
          <p:cNvSpPr txBox="1"/>
          <p:nvPr/>
        </p:nvSpPr>
        <p:spPr>
          <a:xfrm>
            <a:off x="1545670" y="1741142"/>
            <a:ext cx="221562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중장년층</a:t>
            </a: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고용 위기 심화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508D8F-F64D-4B86-8471-8CE5DEF76D57}"/>
              </a:ext>
            </a:extLst>
          </p:cNvPr>
          <p:cNvSpPr txBox="1"/>
          <p:nvPr/>
        </p:nvSpPr>
        <p:spPr>
          <a:xfrm>
            <a:off x="1489729" y="4246076"/>
            <a:ext cx="30249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디지털 역량 격차 및 교육 기회 부족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D8C0734-0E38-4F16-B723-78611B8D4BE3}"/>
              </a:ext>
            </a:extLst>
          </p:cNvPr>
          <p:cNvSpPr txBox="1"/>
          <p:nvPr/>
        </p:nvSpPr>
        <p:spPr>
          <a:xfrm>
            <a:off x="8302386" y="4319654"/>
            <a:ext cx="329466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데이터 기반 맞춤형 재취업 지원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64435D2-CCA0-4612-9653-67F6B2A73B28}"/>
              </a:ext>
            </a:extLst>
          </p:cNvPr>
          <p:cNvSpPr txBox="1"/>
          <p:nvPr/>
        </p:nvSpPr>
        <p:spPr>
          <a:xfrm>
            <a:off x="8302386" y="1816056"/>
            <a:ext cx="317211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로지스틱 회귀 </a:t>
            </a:r>
            <a:r>
              <a:rPr lang="en-US" altLang="ko-KR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· </a:t>
            </a:r>
            <a:r>
              <a:rPr lang="ko-KR" altLang="en-US" sz="14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집단 비교 분석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</Words>
  <Application>Microsoft Office PowerPoint</Application>
  <PresentationFormat>와이드스크린</PresentationFormat>
  <Paragraphs>42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Noto Sans Symbols</vt:lpstr>
      <vt:lpstr>Arial</vt:lpstr>
      <vt:lpstr>Calibri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</dc:creator>
  <cp:lastModifiedBy>a</cp:lastModifiedBy>
  <cp:revision>1</cp:revision>
  <dcterms:modified xsi:type="dcterms:W3CDTF">2026-08-27T13:59:51Z</dcterms:modified>
</cp:coreProperties>
</file>