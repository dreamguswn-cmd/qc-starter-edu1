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05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315200" y="656539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4조 | AI Agent 품질관리·운영 모니터링 | 1</a:t>
            </a:r>
            <a:endParaRPr lang="en-US" sz="7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4F056B2-3B5B-4C30-BC80-2CFBE6D86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30481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AF1B4BBE-585E-436B-8067-8CAE51D59A80}"/>
              </a:ext>
            </a:extLst>
          </p:cNvPr>
          <p:cNvSpPr/>
          <p:nvPr/>
        </p:nvSpPr>
        <p:spPr>
          <a:xfrm>
            <a:off x="619105" y="1932153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SW 품질관리 및 모니터링 실무 10일 과정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F189D9DC-0D94-47EF-9D8D-1884A7F5F15C}"/>
              </a:ext>
            </a:extLst>
          </p:cNvPr>
          <p:cNvSpPr/>
          <p:nvPr/>
        </p:nvSpPr>
        <p:spPr>
          <a:xfrm>
            <a:off x="3812186" y="385095"/>
            <a:ext cx="3338541" cy="40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팀명</a:t>
            </a:r>
            <a:r>
              <a:rPr lang="en-US" sz="1200" b="1" dirty="0">
                <a:solidFill>
                  <a:srgbClr val="0F3A5E"/>
                </a:solidFill>
              </a:rPr>
              <a:t>: </a:t>
            </a:r>
            <a:r>
              <a:rPr lang="en-US" sz="1200" b="1" dirty="0">
                <a:solidFill>
                  <a:schemeClr val="accent1"/>
                </a:solidFill>
              </a:rPr>
              <a:t>4조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b="1" dirty="0" err="1">
                <a:solidFill>
                  <a:schemeClr val="accent1"/>
                </a:solidFill>
              </a:rPr>
              <a:t>발표일</a:t>
            </a:r>
            <a:r>
              <a:rPr lang="en-US" sz="1200" b="1" dirty="0">
                <a:solidFill>
                  <a:schemeClr val="accent1"/>
                </a:solidFill>
              </a:rPr>
              <a:t>: 2026-07-</a:t>
            </a:r>
            <a:r>
              <a:rPr lang="en-US" altLang="ko-KR" sz="1200" b="1" dirty="0">
                <a:solidFill>
                  <a:schemeClr val="accent1"/>
                </a:solidFill>
              </a:rPr>
              <a:t>10</a:t>
            </a:r>
            <a:r>
              <a:rPr lang="en-US" sz="1200" b="1" dirty="0">
                <a:solidFill>
                  <a:schemeClr val="accent1"/>
                </a:solidFill>
              </a:rPr>
              <a:t>발표자: 4조 팀원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프로젝트 개요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Agent와 품질관리 범위를 한 장으로 정리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291840" cy="1828800"/>
          </a:xfrm>
          <a:prstGeom prst="roundRect">
            <a:avLst>
              <a:gd name="adj" fmla="val 4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850392" y="143560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대상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01368"/>
            <a:ext cx="296265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서비스명: 교육과정 안내 챗봇 (FastAPI)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주요 기능: 질의응답(/ask, rule·api 모드) + 답변 자동 품질평가(규칙+Judge)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사용자 시나리오: 교육시간·출결 등 과정 문의 → 근거 기반 답변, 범위 외·위험 질문은 거절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91840" cy="1828800"/>
          </a:xfrm>
          <a:prstGeom prst="roundRect">
            <a:avLst>
              <a:gd name="adj" fmla="val 4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4599432" y="143560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품질관리 범위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1801368"/>
            <a:ext cx="296265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기능 테스트 — pytest 자동 테스트 25건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로그/모니터링 — Prometheus · Grafana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성능 테스트 — k6 부하 테스트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결함관리 — 결함 보고서 5건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                (TC-008~0010,DEF-004,005)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0" y="1317393"/>
            <a:ext cx="3291840" cy="1828800"/>
          </a:xfrm>
          <a:prstGeom prst="roundRect">
            <a:avLst>
              <a:gd name="adj" fmla="val 4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12" name="Text 10"/>
          <p:cNvSpPr/>
          <p:nvPr/>
        </p:nvSpPr>
        <p:spPr>
          <a:xfrm>
            <a:off x="8348472" y="143560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팀 역할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8472" y="1801368"/>
            <a:ext cx="2674662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333333"/>
                </a:solidFill>
              </a:rPr>
              <a:t>프로젝트 총괄</a:t>
            </a:r>
            <a:r>
              <a:rPr lang="en-US" altLang="ko-KR" sz="1000" dirty="0">
                <a:solidFill>
                  <a:srgbClr val="333333"/>
                </a:solidFill>
              </a:rPr>
              <a:t>/</a:t>
            </a:r>
            <a:r>
              <a:rPr lang="ko-KR" altLang="en-US" sz="1000" dirty="0">
                <a:solidFill>
                  <a:srgbClr val="333333"/>
                </a:solidFill>
              </a:rPr>
              <a:t>개발 </a:t>
            </a:r>
            <a:r>
              <a:rPr lang="en-US" altLang="ko-KR" sz="1000" dirty="0">
                <a:solidFill>
                  <a:srgbClr val="333333"/>
                </a:solidFill>
              </a:rPr>
              <a:t>: </a:t>
            </a:r>
            <a:r>
              <a:rPr lang="ko-KR" altLang="en-US" sz="1000" dirty="0">
                <a:solidFill>
                  <a:srgbClr val="333333"/>
                </a:solidFill>
              </a:rPr>
              <a:t>백성현</a:t>
            </a:r>
            <a:r>
              <a:rPr lang="en-US" altLang="ko-KR" sz="1000" dirty="0">
                <a:solidFill>
                  <a:srgbClr val="333333"/>
                </a:solidFill>
              </a:rPr>
              <a:t>, </a:t>
            </a:r>
            <a:r>
              <a:rPr lang="ko-KR" altLang="en-US" sz="1000" dirty="0">
                <a:solidFill>
                  <a:srgbClr val="333333"/>
                </a:solidFill>
              </a:rPr>
              <a:t>김용균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altLang="ko-KR" sz="1000" dirty="0">
                <a:solidFill>
                  <a:srgbClr val="333333"/>
                </a:solidFill>
              </a:rPr>
              <a:t>QA/</a:t>
            </a:r>
            <a:r>
              <a:rPr lang="ko-KR" altLang="en-US" sz="1000" dirty="0">
                <a:solidFill>
                  <a:srgbClr val="333333"/>
                </a:solidFill>
              </a:rPr>
              <a:t>품질관리 </a:t>
            </a:r>
            <a:r>
              <a:rPr lang="en-US" altLang="ko-KR" sz="1000" dirty="0">
                <a:solidFill>
                  <a:srgbClr val="333333"/>
                </a:solidFill>
              </a:rPr>
              <a:t>: </a:t>
            </a:r>
            <a:r>
              <a:rPr lang="ko-KR" altLang="en-US" sz="1000" dirty="0">
                <a:solidFill>
                  <a:srgbClr val="333333"/>
                </a:solidFill>
              </a:rPr>
              <a:t>박선영</a:t>
            </a:r>
          </a:p>
          <a:p>
            <a:pPr marL="0" indent="0">
              <a:buNone/>
            </a:pPr>
            <a:r>
              <a:rPr lang="en-US" altLang="ko-KR" sz="1000" dirty="0">
                <a:solidFill>
                  <a:srgbClr val="333333"/>
                </a:solidFill>
              </a:rPr>
              <a:t>Dashboard </a:t>
            </a:r>
            <a:r>
              <a:rPr lang="ko-KR" altLang="en-US" sz="1000" dirty="0">
                <a:solidFill>
                  <a:srgbClr val="333333"/>
                </a:solidFill>
              </a:rPr>
              <a:t>구현 </a:t>
            </a:r>
            <a:r>
              <a:rPr lang="en-US" altLang="ko-KR" sz="1000" dirty="0">
                <a:solidFill>
                  <a:srgbClr val="333333"/>
                </a:solidFill>
              </a:rPr>
              <a:t>: </a:t>
            </a:r>
            <a:r>
              <a:rPr lang="ko-KR" altLang="en-US" sz="1000" dirty="0">
                <a:solidFill>
                  <a:srgbClr val="333333"/>
                </a:solidFill>
              </a:rPr>
              <a:t>백성현</a:t>
            </a:r>
            <a:r>
              <a:rPr lang="en-US" altLang="ko-KR" sz="1000" dirty="0">
                <a:solidFill>
                  <a:srgbClr val="333333"/>
                </a:solidFill>
              </a:rPr>
              <a:t>, </a:t>
            </a:r>
            <a:r>
              <a:rPr lang="ko-KR" altLang="en-US" sz="1000" dirty="0">
                <a:solidFill>
                  <a:srgbClr val="333333"/>
                </a:solidFill>
              </a:rPr>
              <a:t>김용균</a:t>
            </a:r>
            <a:r>
              <a:rPr lang="en-US" altLang="ko-KR" sz="1000" dirty="0">
                <a:solidFill>
                  <a:srgbClr val="333333"/>
                </a:solidFill>
              </a:rPr>
              <a:t>, </a:t>
            </a:r>
            <a:r>
              <a:rPr lang="ko-KR" altLang="en-US" sz="1000" dirty="0">
                <a:solidFill>
                  <a:srgbClr val="333333"/>
                </a:solidFill>
              </a:rPr>
              <a:t>유현주</a:t>
            </a:r>
          </a:p>
          <a:p>
            <a:pPr marL="0" indent="0">
              <a:buNone/>
            </a:pPr>
            <a:r>
              <a:rPr lang="ko-KR" altLang="en-US" sz="1000" dirty="0">
                <a:solidFill>
                  <a:srgbClr val="333333"/>
                </a:solidFill>
              </a:rPr>
              <a:t>발표</a:t>
            </a:r>
            <a:r>
              <a:rPr lang="en-US" altLang="ko-KR" sz="1000" dirty="0">
                <a:solidFill>
                  <a:srgbClr val="333333"/>
                </a:solidFill>
              </a:rPr>
              <a:t>/</a:t>
            </a:r>
            <a:r>
              <a:rPr lang="ko-KR" altLang="en-US" sz="1000" dirty="0">
                <a:solidFill>
                  <a:srgbClr val="333333"/>
                </a:solidFill>
              </a:rPr>
              <a:t>시연 </a:t>
            </a:r>
            <a:r>
              <a:rPr lang="en-US" altLang="ko-KR" sz="1000" dirty="0">
                <a:solidFill>
                  <a:srgbClr val="333333"/>
                </a:solidFill>
              </a:rPr>
              <a:t>: </a:t>
            </a:r>
            <a:r>
              <a:rPr lang="ko-KR" altLang="en-US" sz="1000" dirty="0">
                <a:solidFill>
                  <a:srgbClr val="333333"/>
                </a:solidFill>
              </a:rPr>
              <a:t>유현주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022" y="3507075"/>
            <a:ext cx="10789920" cy="1371600"/>
          </a:xfrm>
          <a:prstGeom prst="roundRect">
            <a:avLst>
              <a:gd name="adj" fmla="val 533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833614" y="3940141"/>
            <a:ext cx="10460736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AI Agent</a:t>
            </a:r>
            <a:r>
              <a:rPr lang="ko-KR" altLang="en-US" sz="1000" dirty="0">
                <a:solidFill>
                  <a:srgbClr val="333333"/>
                </a:solidFill>
              </a:rPr>
              <a:t>의 답변 품질을 자동으로 검증하고</a:t>
            </a:r>
            <a:r>
              <a:rPr lang="en-US" altLang="ko-KR" sz="1000" dirty="0">
                <a:solidFill>
                  <a:srgbClr val="333333"/>
                </a:solidFill>
              </a:rPr>
              <a:t>, </a:t>
            </a:r>
            <a:r>
              <a:rPr lang="ko-KR" altLang="en-US" sz="1000" dirty="0">
                <a:solidFill>
                  <a:srgbClr val="333333"/>
                </a:solidFill>
              </a:rPr>
              <a:t>기능 테스트</a:t>
            </a:r>
            <a:r>
              <a:rPr lang="en-US" altLang="ko-KR" sz="1000" dirty="0">
                <a:solidFill>
                  <a:srgbClr val="333333"/>
                </a:solidFill>
              </a:rPr>
              <a:t>·</a:t>
            </a:r>
            <a:r>
              <a:rPr lang="ko-KR" altLang="en-US" sz="1000" dirty="0">
                <a:solidFill>
                  <a:srgbClr val="333333"/>
                </a:solidFill>
              </a:rPr>
              <a:t>성능 테스트</a:t>
            </a:r>
            <a:r>
              <a:rPr lang="en-US" altLang="ko-KR" sz="1000" dirty="0">
                <a:solidFill>
                  <a:srgbClr val="333333"/>
                </a:solidFill>
              </a:rPr>
              <a:t>·</a:t>
            </a:r>
            <a:r>
              <a:rPr lang="ko-KR" altLang="en-US" sz="1000" dirty="0">
                <a:solidFill>
                  <a:srgbClr val="333333"/>
                </a:solidFill>
              </a:rPr>
              <a:t>운영 모니터링을 통합합니다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333333"/>
                </a:solidFill>
              </a:rPr>
              <a:t>서비스 품질을 객관적으로 평가하는 </a:t>
            </a:r>
            <a:r>
              <a:rPr lang="en-US" altLang="ko-KR" sz="1000" dirty="0">
                <a:solidFill>
                  <a:srgbClr val="333333"/>
                </a:solidFill>
              </a:rPr>
              <a:t>QA </a:t>
            </a:r>
            <a:r>
              <a:rPr lang="ko-KR" altLang="en-US" sz="1000" dirty="0">
                <a:solidFill>
                  <a:srgbClr val="333333"/>
                </a:solidFill>
              </a:rPr>
              <a:t>자동화 플랫폼을 구축하는 것이 목적입니다</a:t>
            </a:r>
            <a:r>
              <a:rPr lang="en-US" altLang="ko-KR" sz="1000" dirty="0">
                <a:solidFill>
                  <a:srgbClr val="333333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333333"/>
                </a:solidFill>
              </a:rPr>
              <a:t>또한 결함을 조기에 발견하고 개선하여 안정적인 운영 환경을 검증하는 것을 목표로 합니다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656539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4조 | AI Agent 품질관리·운영 모니터링 | 2</a:t>
            </a:r>
            <a:endParaRPr lang="en-US" sz="7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0547470-93EA-4EDF-A417-1C8FDE89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172" y="2315290"/>
            <a:ext cx="1129849" cy="780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" name="Shape 12">
            <a:extLst>
              <a:ext uri="{FF2B5EF4-FFF2-40B4-BE49-F238E27FC236}">
                <a16:creationId xmlns:a16="http://schemas.microsoft.com/office/drawing/2014/main" id="{A878645D-4252-400B-9F41-88A6BCAE8CC5}"/>
              </a:ext>
            </a:extLst>
          </p:cNvPr>
          <p:cNvSpPr/>
          <p:nvPr/>
        </p:nvSpPr>
        <p:spPr>
          <a:xfrm>
            <a:off x="678809" y="5143851"/>
            <a:ext cx="10789920" cy="1371600"/>
          </a:xfrm>
          <a:prstGeom prst="roundRect">
            <a:avLst>
              <a:gd name="adj" fmla="val 533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69040489-5CDF-4BD0-8FF4-696041B27438}"/>
              </a:ext>
            </a:extLst>
          </p:cNvPr>
          <p:cNvSpPr/>
          <p:nvPr/>
        </p:nvSpPr>
        <p:spPr>
          <a:xfrm>
            <a:off x="843401" y="5253579"/>
            <a:ext cx="10460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이번 발표의 핵심 메시지</a:t>
            </a:r>
            <a:endParaRPr lang="en-US" sz="14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A4164DD8-D6AE-4066-B197-810529000D14}"/>
              </a:ext>
            </a:extLst>
          </p:cNvPr>
          <p:cNvSpPr/>
          <p:nvPr/>
        </p:nvSpPr>
        <p:spPr>
          <a:xfrm>
            <a:off x="843401" y="5619339"/>
            <a:ext cx="10460736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k6 부하테스트 설정 오류(vus 10000)로 오류율 100%가 발생하는 장애를 발견해 문서 기준(vus 3)으로 수정, 오류율 0.00% · p95 2.3ms로 개선했습니다. 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</a:rPr>
              <a:t>기능</a:t>
            </a:r>
            <a:r>
              <a:rPr lang="en-US" sz="1000" dirty="0">
                <a:solidFill>
                  <a:srgbClr val="333333"/>
                </a:solidFill>
              </a:rPr>
              <a:t> 테스트 25건 전체 PASS, 품질 파이프라인 7/7 PASS, Grafana 실시간 지표(요청량·오류율·p95·PASS율)를 근거로 최종 “조건부 운영 가능”으로 판정했습니다.</a:t>
            </a:r>
            <a:endParaRPr lang="en-US" sz="10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3C2010B9-F5BA-406A-9844-CCD48EF0B5AD}"/>
              </a:ext>
            </a:extLst>
          </p:cNvPr>
          <p:cNvSpPr/>
          <p:nvPr/>
        </p:nvSpPr>
        <p:spPr>
          <a:xfrm>
            <a:off x="893735" y="3643313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0F3A5E"/>
                </a:solidFill>
              </a:rPr>
              <a:t>프로젝트 목적</a:t>
            </a:r>
            <a:endParaRPr lang="en-US" sz="1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040D6A0A-3FD4-4D21-B9B2-F2E2E0FE5ADB}"/>
              </a:ext>
            </a:extLst>
          </p:cNvPr>
          <p:cNvSpPr/>
          <p:nvPr/>
        </p:nvSpPr>
        <p:spPr>
          <a:xfrm>
            <a:off x="685800" y="3674938"/>
            <a:ext cx="10789920" cy="2776196"/>
          </a:xfrm>
          <a:prstGeom prst="roundRect">
            <a:avLst>
              <a:gd name="adj" fmla="val 1818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테스트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실행한 테스트케이스와 장애 시나리오 요약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212080" cy="2239441"/>
          </a:xfrm>
          <a:prstGeom prst="roundRect">
            <a:avLst>
              <a:gd name="adj" fmla="val 181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850392" y="143560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테스트케이스 요약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01368"/>
            <a:ext cx="4882896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총 테스트케이스 수: 25건 (pytest 자동 테스트)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Pass: 25건 (전체 GREEN)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Fail: 0건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Blocked: 0건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주요 검증 포인트: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- Health Check (/health · /metrics 노출)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- 정상 질문 응답 (Happy 4케이스 키워드·스키마)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- Negative 입력 (빈 질문·형식 오류 422, 위험 질문 거절)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- fault-lab 장애 시나리오 (normal·delay·error500·timeout)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- 품질 파이프라인 rule 기준선 7/7 PASS · 보고서 3종 생성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120640" cy="2239441"/>
          </a:xfrm>
          <a:prstGeom prst="roundRect">
            <a:avLst>
              <a:gd name="adj" fmla="val 181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6519672" y="143560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장애 시나리오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1801368"/>
            <a:ext cx="4791456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장애 유형 1: 500 서버 오류 (fault-lab error500 시나리오)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장애 유형 2: 응답 지연·타임아웃 (delay·timeout 504)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장애 유형 3: 과부하로 인한 서버 응답 불능 (k6 vus 오설정)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가장 중요한 장애: k6 vus=10000 오설정 → 오류율 100% + 좀비 소켓 2차 피해 (DEF-004)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발생 원인 추정: 스크립트 vus 값이 문서 설계(vus 3)와 불일치 — 로컬 단일 프로세스가 감당 불가한 부하 유발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재현 방법: 수정 전 k6_test.js(vus 10000)로 k6 run 실행 → /health 대상 30초 부하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656539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4조 | AI Agent 품질관리·운영 모니터링 | 3</a:t>
            </a:r>
            <a:endParaRPr lang="en-US" sz="7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35AB0F7-A2F9-4974-AFCE-68F4F4EA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14" y="3965587"/>
            <a:ext cx="10491216" cy="2401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D4E4880E-A290-44E0-9F79-F9D81F6FB179}"/>
              </a:ext>
            </a:extLst>
          </p:cNvPr>
          <p:cNvSpPr/>
          <p:nvPr/>
        </p:nvSpPr>
        <p:spPr>
          <a:xfrm>
            <a:off x="998206" y="3709555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테스트케이스 요약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모니터링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Prometheus, Grafana, 로그 분석 결과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656539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4조 | AI Agent 품질관리·운영 모니터링 | 4</a:t>
            </a:r>
            <a:endParaRPr lang="en-US" sz="7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14E0540A-053A-4A16-AC7A-92D5FEBDE8B0}"/>
              </a:ext>
            </a:extLst>
          </p:cNvPr>
          <p:cNvSpPr/>
          <p:nvPr/>
        </p:nvSpPr>
        <p:spPr>
          <a:xfrm>
            <a:off x="579120" y="1320194"/>
            <a:ext cx="3383280" cy="1752041"/>
          </a:xfrm>
          <a:prstGeom prst="roundRect">
            <a:avLst>
              <a:gd name="adj" fmla="val 216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276B739-2E17-4865-B116-55790485197A}"/>
              </a:ext>
            </a:extLst>
          </p:cNvPr>
          <p:cNvSpPr/>
          <p:nvPr/>
        </p:nvSpPr>
        <p:spPr>
          <a:xfrm>
            <a:off x="743712" y="142992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핵심 지표</a:t>
            </a:r>
            <a:endParaRPr lang="en-US" sz="14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B565CB5-DB81-44CA-AE8F-90B7B5FEC12F}"/>
              </a:ext>
            </a:extLst>
          </p:cNvPr>
          <p:cNvSpPr/>
          <p:nvPr/>
        </p:nvSpPr>
        <p:spPr>
          <a:xfrm>
            <a:off x="743712" y="1795682"/>
            <a:ext cx="3054096" cy="12581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요청 수: 13.2 (agent_request_total 현재값)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성공률: 59.8 (agent_success_total)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오류율: 92.8 (agent_error_total — 모드별 4~10%)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평균 응답시간: 78~86초 범위 (agent_response_seconds 그래프)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p95 응답시간: 35~50 (mode별 p95, Grafana 실시간 확인)</a:t>
            </a:r>
            <a:endParaRPr lang="en-US" sz="10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9A89305-0C7C-494C-9AF8-A95A16F628F7}"/>
              </a:ext>
            </a:extLst>
          </p:cNvPr>
          <p:cNvSpPr/>
          <p:nvPr/>
        </p:nvSpPr>
        <p:spPr>
          <a:xfrm>
            <a:off x="594360" y="3585915"/>
            <a:ext cx="3383280" cy="1797761"/>
          </a:xfrm>
          <a:prstGeom prst="roundRect">
            <a:avLst>
              <a:gd name="adj" fmla="val 216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CCC0EF29-D0A4-4CAE-B035-580076E34C59}"/>
              </a:ext>
            </a:extLst>
          </p:cNvPr>
          <p:cNvSpPr/>
          <p:nvPr/>
        </p:nvSpPr>
        <p:spPr>
          <a:xfrm>
            <a:off x="743712" y="3741363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로그 근거</a:t>
            </a:r>
            <a:endParaRPr lang="en-US" sz="14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22AAD31-1785-48F2-A3B2-B62318CCBC86}"/>
              </a:ext>
            </a:extLst>
          </p:cNvPr>
          <p:cNvSpPr/>
          <p:nvPr/>
        </p:nvSpPr>
        <p:spPr>
          <a:xfrm>
            <a:off x="743712" y="4107123"/>
            <a:ext cx="3054096" cy="12765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오류 로그 위치: /metrics (Prometheus), Grafana :3000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관측 기간: 05:30~11:00 (Last 6 hours 대시보드)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주요 메시지: 품질평가 PASS율 10→22% 상승(07:00~09:30 구간)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원인 후보: fault-lab 시나리오 실행 → 오류율·지연 지표 동시 상승</a:t>
            </a:r>
            <a:endParaRPr lang="en-US" sz="10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5C4BE475-58AB-4279-A767-38697DA1F6FD}"/>
              </a:ext>
            </a:extLst>
          </p:cNvPr>
          <p:cNvSpPr/>
          <p:nvPr/>
        </p:nvSpPr>
        <p:spPr>
          <a:xfrm>
            <a:off x="4388440" y="1284977"/>
            <a:ext cx="7270160" cy="498780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3FBC543E-C9A8-435F-A268-CB32C0FBB604}"/>
              </a:ext>
            </a:extLst>
          </p:cNvPr>
          <p:cNvSpPr/>
          <p:nvPr/>
        </p:nvSpPr>
        <p:spPr>
          <a:xfrm>
            <a:off x="7396900" y="135812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대시보드 캡처</a:t>
            </a:r>
            <a:endParaRPr lang="en-US" sz="1400" dirty="0"/>
          </a:p>
        </p:txBody>
      </p:sp>
      <p:pic>
        <p:nvPicPr>
          <p:cNvPr id="23" name="GrafanaDashboard">
            <a:extLst>
              <a:ext uri="{FF2B5EF4-FFF2-40B4-BE49-F238E27FC236}">
                <a16:creationId xmlns:a16="http://schemas.microsoft.com/office/drawing/2014/main" id="{C4562BC4-142F-410E-8896-A49E47ED8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272" y="1760464"/>
            <a:ext cx="7044608" cy="43916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39">
            <a:extLst>
              <a:ext uri="{FF2B5EF4-FFF2-40B4-BE49-F238E27FC236}">
                <a16:creationId xmlns:a16="http://schemas.microsoft.com/office/drawing/2014/main" id="{A4367EDD-2132-43FC-A7C9-8C16D90211B2}"/>
              </a:ext>
            </a:extLst>
          </p:cNvPr>
          <p:cNvSpPr/>
          <p:nvPr/>
        </p:nvSpPr>
        <p:spPr>
          <a:xfrm>
            <a:off x="777241" y="3926360"/>
            <a:ext cx="10094892" cy="2549941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02920" y="294873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성능테스트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JMeter 또는 k6 결과를 기준으로 최종 판정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157261"/>
            <a:ext cx="155448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266989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도구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157261"/>
            <a:ext cx="155448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68296" y="1266989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총 요청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157261"/>
            <a:ext cx="155448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1266989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오류율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1157261"/>
            <a:ext cx="173736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7256" y="1266989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평균(ms)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1157261"/>
            <a:ext cx="173736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1266989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p95(ms)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157261"/>
            <a:ext cx="182880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1266989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1596173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1705901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k6 (1차·수정 전)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1596173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68296" y="1705901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141,375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6200" y="1596173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1705901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100%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1596173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1705901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측정 불가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1596173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4616" y="1705901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측정 불가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1596173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1705901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Fail (무효)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2035085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2144813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k6 (2차·수정 후)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31720" y="2035085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68296" y="2144813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295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86200" y="2035085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22776" y="2144813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0.00%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40680" y="2035085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77256" y="2144813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1.57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78040" y="2035085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4616" y="2144813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2.3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15400" y="2035085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51976" y="2144813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Pass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5629" y="2645886"/>
            <a:ext cx="4937760" cy="1116624"/>
          </a:xfrm>
          <a:prstGeom prst="roundRect">
            <a:avLst>
              <a:gd name="adj" fmla="val 470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42" name="Text 40"/>
          <p:cNvSpPr/>
          <p:nvPr/>
        </p:nvSpPr>
        <p:spPr>
          <a:xfrm>
            <a:off x="950221" y="272751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판정 기준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50221" y="3093272"/>
            <a:ext cx="4608576" cy="586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오류율 5% 이하, p95 응답시간 1000ms 이하이면 Pass로 판정합니다. 1차 실행은 스크립트 설정 결함(vus 10000)으로 테스트 무효 처리 후, vus 3 · duration 10s로 수정해 재실행했습니다.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38473" y="2592617"/>
            <a:ext cx="4480560" cy="1208231"/>
          </a:xfrm>
          <a:prstGeom prst="roundRect">
            <a:avLst>
              <a:gd name="adj" fmla="val 470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45" name="Text 43"/>
          <p:cNvSpPr/>
          <p:nvPr/>
        </p:nvSpPr>
        <p:spPr>
          <a:xfrm>
            <a:off x="6403065" y="2702345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성능 개선 의견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3065" y="3068105"/>
            <a:ext cx="4200619" cy="694405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병목은 서버가 아니라 테스트 스크립트 설정(vus 10000)이었으며, 수정 후 재테스트에서 기준을 크게 상회해 통과했습니다. api 모드는 외부 LLM 지연으로 p95 1000ms 초과 가능성이 있어 캐싱, rule 우선 하이브리드 라우팅, 타임아웃·재시도 정책 적용을 제안합니다.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0" y="656539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4조 | AI Agent 품질관리·운영 모니터링 | 5</a:t>
            </a:r>
            <a:endParaRPr lang="en-US" sz="700" dirty="0"/>
          </a:p>
        </p:txBody>
      </p:sp>
      <p:pic>
        <p:nvPicPr>
          <p:cNvPr id="48" name="k6Chart">
            <a:extLst>
              <a:ext uri="{FF2B5EF4-FFF2-40B4-BE49-F238E27FC236}">
                <a16:creationId xmlns:a16="http://schemas.microsoft.com/office/drawing/2014/main" id="{A65109C2-0B7F-4B00-BCB4-A7E179684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54" y="4244914"/>
            <a:ext cx="9793979" cy="2111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9" name="Text 40">
            <a:extLst>
              <a:ext uri="{FF2B5EF4-FFF2-40B4-BE49-F238E27FC236}">
                <a16:creationId xmlns:a16="http://schemas.microsoft.com/office/drawing/2014/main" id="{F08BC665-089F-4E6B-B9CF-DAF8624B28C8}"/>
              </a:ext>
            </a:extLst>
          </p:cNvPr>
          <p:cNvSpPr/>
          <p:nvPr/>
        </p:nvSpPr>
        <p:spPr>
          <a:xfrm>
            <a:off x="925054" y="3959819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0F3A5E"/>
                </a:solidFill>
              </a:rPr>
              <a:t>K6 </a:t>
            </a:r>
            <a:r>
              <a:rPr lang="ko-KR" altLang="en-US" sz="1400" b="1" dirty="0">
                <a:solidFill>
                  <a:srgbClr val="0F3A5E"/>
                </a:solidFill>
              </a:rPr>
              <a:t>성능 테스트 </a:t>
            </a:r>
            <a:r>
              <a:rPr lang="ko-KR" altLang="en-US" sz="1400" b="1">
                <a:solidFill>
                  <a:srgbClr val="0F3A5E"/>
                </a:solidFill>
              </a:rPr>
              <a:t>결과 그래프</a:t>
            </a:r>
            <a:endParaRPr lang="en-US" altLang="ko-KR" sz="1400" b="1" dirty="0">
              <a:solidFill>
                <a:srgbClr val="0F3A5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">
            <a:extLst>
              <a:ext uri="{FF2B5EF4-FFF2-40B4-BE49-F238E27FC236}">
                <a16:creationId xmlns:a16="http://schemas.microsoft.com/office/drawing/2014/main" id="{BB91C7CF-04B3-4C97-B06E-08A2E72CF56F}"/>
              </a:ext>
            </a:extLst>
          </p:cNvPr>
          <p:cNvSpPr/>
          <p:nvPr/>
        </p:nvSpPr>
        <p:spPr>
          <a:xfrm>
            <a:off x="685800" y="3659360"/>
            <a:ext cx="10789920" cy="3043192"/>
          </a:xfrm>
          <a:prstGeom prst="roundRect">
            <a:avLst>
              <a:gd name="adj" fmla="val 1667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결함 및 개선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결함과 조치 후 변화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29826"/>
            <a:ext cx="5120640" cy="2069809"/>
          </a:xfrm>
          <a:prstGeom prst="roundRect">
            <a:avLst>
              <a:gd name="adj" fmla="val 1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850392" y="133955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주요 결함 TOP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688536"/>
            <a:ext cx="4791456" cy="110499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333333"/>
                </a:solidFill>
              </a:rPr>
              <a:t>1) DEF-004 (k6 </a:t>
            </a:r>
            <a:r>
              <a:rPr lang="en-US" altLang="ko-KR" sz="1000" dirty="0" err="1">
                <a:solidFill>
                  <a:srgbClr val="333333"/>
                </a:solidFill>
              </a:rPr>
              <a:t>부하테스트</a:t>
            </a:r>
            <a:r>
              <a:rPr lang="en-US" altLang="ko-KR" sz="1000" dirty="0">
                <a:solidFill>
                  <a:srgbClr val="333333"/>
                </a:solidFill>
              </a:rPr>
              <a:t>) / High / VUS=10000 </a:t>
            </a:r>
            <a:r>
              <a:rPr lang="en-US" altLang="ko-KR" sz="1000" dirty="0" err="1">
                <a:solidFill>
                  <a:srgbClr val="333333"/>
                </a:solidFill>
              </a:rPr>
              <a:t>오류로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오류율</a:t>
            </a:r>
            <a:r>
              <a:rPr lang="en-US" altLang="ko-KR" sz="1000" dirty="0">
                <a:solidFill>
                  <a:srgbClr val="333333"/>
                </a:solidFill>
              </a:rPr>
              <a:t> 100%(141,375건 </a:t>
            </a:r>
            <a:r>
              <a:rPr lang="en-US" altLang="ko-KR" sz="1000" dirty="0" err="1">
                <a:solidFill>
                  <a:srgbClr val="333333"/>
                </a:solidFill>
              </a:rPr>
              <a:t>실패</a:t>
            </a:r>
            <a:r>
              <a:rPr lang="en-US" altLang="ko-KR" sz="1000" dirty="0">
                <a:solidFill>
                  <a:srgbClr val="333333"/>
                </a:solidFill>
              </a:rPr>
              <a:t>) → </a:t>
            </a:r>
            <a:r>
              <a:rPr lang="en-US" altLang="ko-KR" sz="1000" dirty="0" err="1">
                <a:solidFill>
                  <a:srgbClr val="333333"/>
                </a:solidFill>
              </a:rPr>
              <a:t>수정</a:t>
            </a:r>
            <a:r>
              <a:rPr lang="en-US" altLang="ko-KR" sz="1000" dirty="0">
                <a:solidFill>
                  <a:srgbClr val="333333"/>
                </a:solidFill>
              </a:rPr>
              <a:t> 후 </a:t>
            </a:r>
            <a:r>
              <a:rPr lang="en-US" altLang="ko-KR" sz="1000" dirty="0" err="1">
                <a:solidFill>
                  <a:srgbClr val="333333"/>
                </a:solidFill>
              </a:rPr>
              <a:t>오류율</a:t>
            </a:r>
            <a:r>
              <a:rPr lang="en-US" altLang="ko-KR" sz="1000" dirty="0">
                <a:solidFill>
                  <a:srgbClr val="333333"/>
                </a:solidFill>
              </a:rPr>
              <a:t> 0%, p95 4.48ms PASS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>
                <a:solidFill>
                  <a:srgbClr val="333333"/>
                </a:solidFill>
              </a:rPr>
              <a:t>2) DEF-005 (Docker Compose) / High / </a:t>
            </a:r>
            <a:r>
              <a:rPr lang="en-US" altLang="ko-KR" sz="1000" dirty="0" err="1">
                <a:solidFill>
                  <a:srgbClr val="333333"/>
                </a:solidFill>
              </a:rPr>
              <a:t>포트</a:t>
            </a:r>
            <a:r>
              <a:rPr lang="en-US" altLang="ko-KR" sz="1000" dirty="0">
                <a:solidFill>
                  <a:srgbClr val="333333"/>
                </a:solidFill>
              </a:rPr>
              <a:t>(8000) </a:t>
            </a:r>
            <a:r>
              <a:rPr lang="en-US" altLang="ko-KR" sz="1000" dirty="0" err="1">
                <a:solidFill>
                  <a:srgbClr val="333333"/>
                </a:solidFill>
              </a:rPr>
              <a:t>충돌로</a:t>
            </a:r>
            <a:r>
              <a:rPr lang="en-US" altLang="ko-KR" sz="1000" dirty="0">
                <a:solidFill>
                  <a:srgbClr val="333333"/>
                </a:solidFill>
              </a:rPr>
              <a:t> App </a:t>
            </a:r>
            <a:r>
              <a:rPr lang="en-US" altLang="ko-KR" sz="1000" dirty="0" err="1">
                <a:solidFill>
                  <a:srgbClr val="333333"/>
                </a:solidFill>
              </a:rPr>
              <a:t>컨테이너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생성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실패</a:t>
            </a:r>
            <a:r>
              <a:rPr lang="en-US" altLang="ko-KR" sz="1000" dirty="0">
                <a:solidFill>
                  <a:srgbClr val="333333"/>
                </a:solidFill>
              </a:rPr>
              <a:t>, Health </a:t>
            </a:r>
            <a:r>
              <a:rPr lang="en-US" altLang="ko-KR" sz="1000" dirty="0" err="1">
                <a:solidFill>
                  <a:srgbClr val="333333"/>
                </a:solidFill>
              </a:rPr>
              <a:t>Check·Prometheus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연동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실패</a:t>
            </a:r>
            <a:r>
              <a:rPr lang="en-US" altLang="ko-KR" sz="1000" dirty="0">
                <a:solidFill>
                  <a:srgbClr val="333333"/>
                </a:solidFill>
              </a:rPr>
              <a:t> → force-recreate 후 </a:t>
            </a:r>
            <a:r>
              <a:rPr lang="en-US" altLang="ko-KR" sz="1000" dirty="0" err="1">
                <a:solidFill>
                  <a:srgbClr val="333333"/>
                </a:solidFill>
              </a:rPr>
              <a:t>정상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복구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>
                <a:solidFill>
                  <a:srgbClr val="333333"/>
                </a:solidFill>
              </a:rPr>
              <a:t>3) TC-008~TC-010 (</a:t>
            </a:r>
            <a:r>
              <a:rPr lang="en-US" altLang="ko-KR" sz="1000" dirty="0" err="1">
                <a:solidFill>
                  <a:srgbClr val="333333"/>
                </a:solidFill>
              </a:rPr>
              <a:t>범위</a:t>
            </a:r>
            <a:r>
              <a:rPr lang="en-US" altLang="ko-KR" sz="1000" dirty="0">
                <a:solidFill>
                  <a:srgbClr val="333333"/>
                </a:solidFill>
              </a:rPr>
              <a:t> 외 </a:t>
            </a:r>
            <a:r>
              <a:rPr lang="en-US" altLang="ko-KR" sz="1000" dirty="0" err="1">
                <a:solidFill>
                  <a:srgbClr val="333333"/>
                </a:solidFill>
              </a:rPr>
              <a:t>질문</a:t>
            </a:r>
            <a:r>
              <a:rPr lang="en-US" altLang="ko-KR" sz="1000" dirty="0">
                <a:solidFill>
                  <a:srgbClr val="333333"/>
                </a:solidFill>
              </a:rPr>
              <a:t>) / </a:t>
            </a:r>
            <a:r>
              <a:rPr lang="en-US" altLang="ko-KR" sz="1000" dirty="0" err="1">
                <a:solidFill>
                  <a:srgbClr val="333333"/>
                </a:solidFill>
              </a:rPr>
              <a:t>Medium·High</a:t>
            </a:r>
            <a:r>
              <a:rPr lang="en-US" altLang="ko-KR" sz="1000" dirty="0">
                <a:solidFill>
                  <a:srgbClr val="333333"/>
                </a:solidFill>
              </a:rPr>
              <a:t> / Rule Validator </a:t>
            </a:r>
            <a:r>
              <a:rPr lang="en-US" altLang="ko-KR" sz="1000" dirty="0" err="1">
                <a:solidFill>
                  <a:srgbClr val="333333"/>
                </a:solidFill>
              </a:rPr>
              <a:t>과잉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검증으로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전체</a:t>
            </a:r>
            <a:r>
              <a:rPr lang="en-US" altLang="ko-KR" sz="1000" dirty="0">
                <a:solidFill>
                  <a:srgbClr val="333333"/>
                </a:solidFill>
              </a:rPr>
              <a:t> FAIL → </a:t>
            </a:r>
            <a:r>
              <a:rPr lang="en-US" altLang="ko-KR" sz="1000" dirty="0" err="1">
                <a:solidFill>
                  <a:srgbClr val="333333"/>
                </a:solidFill>
              </a:rPr>
              <a:t>검증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로직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개선</a:t>
            </a:r>
            <a:r>
              <a:rPr lang="en-US" altLang="ko-KR" sz="1000" dirty="0">
                <a:solidFill>
                  <a:srgbClr val="333333"/>
                </a:solidFill>
              </a:rPr>
              <a:t> 후 </a:t>
            </a:r>
            <a:r>
              <a:rPr lang="en-US" altLang="ko-KR" sz="1000" dirty="0" err="1">
                <a:solidFill>
                  <a:srgbClr val="333333"/>
                </a:solidFill>
              </a:rPr>
              <a:t>정상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판정</a:t>
            </a:r>
            <a:endParaRPr lang="en-US" altLang="ko-KR" sz="1000" dirty="0"/>
          </a:p>
        </p:txBody>
      </p:sp>
      <p:sp>
        <p:nvSpPr>
          <p:cNvPr id="8" name="Shape 6"/>
          <p:cNvSpPr/>
          <p:nvPr/>
        </p:nvSpPr>
        <p:spPr>
          <a:xfrm>
            <a:off x="6371858" y="1204659"/>
            <a:ext cx="5120640" cy="2254179"/>
          </a:xfrm>
          <a:prstGeom prst="roundRect">
            <a:avLst>
              <a:gd name="adj" fmla="val 1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6536450" y="1314387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개선 전후 비교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6450" y="1680147"/>
            <a:ext cx="4791456" cy="17753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altLang="ko-KR" sz="1000" dirty="0" err="1">
                <a:solidFill>
                  <a:srgbClr val="333333"/>
                </a:solidFill>
              </a:rPr>
              <a:t>개선</a:t>
            </a:r>
            <a:r>
              <a:rPr lang="en-US" altLang="ko-KR" sz="1000" dirty="0">
                <a:solidFill>
                  <a:srgbClr val="333333"/>
                </a:solidFill>
              </a:rPr>
              <a:t> 전: k6 VUS=10000 </a:t>
            </a:r>
            <a:r>
              <a:rPr lang="en-US" altLang="ko-KR" sz="1000" dirty="0" err="1">
                <a:solidFill>
                  <a:srgbClr val="333333"/>
                </a:solidFill>
              </a:rPr>
              <a:t>오류로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성능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측정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불가</a:t>
            </a:r>
            <a:r>
              <a:rPr lang="en-US" altLang="ko-KR" sz="1000" dirty="0">
                <a:solidFill>
                  <a:srgbClr val="333333"/>
                </a:solidFill>
              </a:rPr>
              <a:t> / Docker </a:t>
            </a:r>
            <a:r>
              <a:rPr lang="en-US" altLang="ko-KR" sz="1000" dirty="0" err="1">
                <a:solidFill>
                  <a:srgbClr val="333333"/>
                </a:solidFill>
              </a:rPr>
              <a:t>포트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충돌로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FastAPI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접근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실패</a:t>
            </a:r>
            <a:r>
              <a:rPr lang="en-US" altLang="ko-KR" sz="1000" dirty="0">
                <a:solidFill>
                  <a:srgbClr val="333333"/>
                </a:solidFill>
              </a:rPr>
              <a:t> / TC-008~010 Rule Validator </a:t>
            </a:r>
            <a:r>
              <a:rPr lang="en-US" altLang="ko-KR" sz="1000" dirty="0" err="1">
                <a:solidFill>
                  <a:srgbClr val="333333"/>
                </a:solidFill>
              </a:rPr>
              <a:t>전체</a:t>
            </a:r>
            <a:r>
              <a:rPr lang="en-US" altLang="ko-KR" sz="1000" dirty="0">
                <a:solidFill>
                  <a:srgbClr val="333333"/>
                </a:solidFill>
              </a:rPr>
              <a:t> FAIL / </a:t>
            </a:r>
            <a:r>
              <a:rPr lang="en-US" altLang="ko-KR" sz="1000" dirty="0" err="1">
                <a:solidFill>
                  <a:srgbClr val="333333"/>
                </a:solidFill>
              </a:rPr>
              <a:t>모니터링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신뢰성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저하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 err="1">
                <a:solidFill>
                  <a:srgbClr val="333333"/>
                </a:solidFill>
              </a:rPr>
              <a:t>개선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활동</a:t>
            </a:r>
            <a:r>
              <a:rPr lang="en-US" altLang="ko-KR" sz="1000" dirty="0">
                <a:solidFill>
                  <a:srgbClr val="333333"/>
                </a:solidFill>
              </a:rPr>
              <a:t>: k6 VUS→3 </a:t>
            </a:r>
            <a:r>
              <a:rPr lang="en-US" altLang="ko-KR" sz="1000" dirty="0" err="1">
                <a:solidFill>
                  <a:srgbClr val="333333"/>
                </a:solidFill>
              </a:rPr>
              <a:t>수정</a:t>
            </a:r>
            <a:r>
              <a:rPr lang="en-US" altLang="ko-KR" sz="1000" dirty="0">
                <a:solidFill>
                  <a:srgbClr val="333333"/>
                </a:solidFill>
              </a:rPr>
              <a:t> / Docker Compose </a:t>
            </a:r>
            <a:r>
              <a:rPr lang="en-US" altLang="ko-KR" sz="1000" dirty="0" err="1">
                <a:solidFill>
                  <a:srgbClr val="333333"/>
                </a:solidFill>
              </a:rPr>
              <a:t>포트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충돌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제거</a:t>
            </a:r>
            <a:r>
              <a:rPr lang="en-US" altLang="ko-KR" sz="1000" dirty="0">
                <a:solidFill>
                  <a:srgbClr val="333333"/>
                </a:solidFill>
              </a:rPr>
              <a:t> 및 </a:t>
            </a:r>
            <a:r>
              <a:rPr lang="en-US" altLang="ko-KR" sz="1000" dirty="0" err="1">
                <a:solidFill>
                  <a:srgbClr val="333333"/>
                </a:solidFill>
              </a:rPr>
              <a:t>컨테이너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강제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재생성</a:t>
            </a:r>
            <a:r>
              <a:rPr lang="en-US" altLang="ko-KR" sz="1000" dirty="0">
                <a:solidFill>
                  <a:srgbClr val="333333"/>
                </a:solidFill>
              </a:rPr>
              <a:t> / Rule Validator </a:t>
            </a:r>
            <a:r>
              <a:rPr lang="en-US" altLang="ko-KR" sz="1000" dirty="0" err="1">
                <a:solidFill>
                  <a:srgbClr val="333333"/>
                </a:solidFill>
              </a:rPr>
              <a:t>범위</a:t>
            </a:r>
            <a:r>
              <a:rPr lang="en-US" altLang="ko-KR" sz="1000" dirty="0">
                <a:solidFill>
                  <a:srgbClr val="333333"/>
                </a:solidFill>
              </a:rPr>
              <a:t> 외 </a:t>
            </a:r>
            <a:r>
              <a:rPr lang="en-US" altLang="ko-KR" sz="1000" dirty="0" err="1">
                <a:solidFill>
                  <a:srgbClr val="333333"/>
                </a:solidFill>
              </a:rPr>
              <a:t>질문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검증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로직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개선</a:t>
            </a:r>
            <a:r>
              <a:rPr lang="en-US" altLang="ko-KR" sz="1000" dirty="0">
                <a:solidFill>
                  <a:srgbClr val="333333"/>
                </a:solidFill>
              </a:rPr>
              <a:t> / </a:t>
            </a:r>
            <a:r>
              <a:rPr lang="en-US" altLang="ko-KR" sz="1000" dirty="0" err="1">
                <a:solidFill>
                  <a:srgbClr val="333333"/>
                </a:solidFill>
              </a:rPr>
              <a:t>회귀·성능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테스트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재수행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 err="1">
                <a:solidFill>
                  <a:srgbClr val="333333"/>
                </a:solidFill>
              </a:rPr>
              <a:t>개선</a:t>
            </a:r>
            <a:r>
              <a:rPr lang="en-US" altLang="ko-KR" sz="1000" dirty="0">
                <a:solidFill>
                  <a:srgbClr val="333333"/>
                </a:solidFill>
              </a:rPr>
              <a:t> 후: </a:t>
            </a:r>
            <a:r>
              <a:rPr lang="en-US" altLang="ko-KR" sz="1000" dirty="0" err="1">
                <a:solidFill>
                  <a:srgbClr val="333333"/>
                </a:solidFill>
              </a:rPr>
              <a:t>오류율</a:t>
            </a:r>
            <a:r>
              <a:rPr lang="en-US" altLang="ko-KR" sz="1000" dirty="0">
                <a:solidFill>
                  <a:srgbClr val="333333"/>
                </a:solidFill>
              </a:rPr>
              <a:t> 0.00% / </a:t>
            </a:r>
            <a:r>
              <a:rPr lang="en-US" altLang="ko-KR" sz="1000" dirty="0" err="1">
                <a:solidFill>
                  <a:srgbClr val="333333"/>
                </a:solidFill>
              </a:rPr>
              <a:t>평균</a:t>
            </a:r>
            <a:r>
              <a:rPr lang="en-US" altLang="ko-KR" sz="1000" dirty="0">
                <a:solidFill>
                  <a:srgbClr val="333333"/>
                </a:solidFill>
              </a:rPr>
              <a:t> 2.97ms / p95 4.48ms / </a:t>
            </a:r>
            <a:r>
              <a:rPr lang="en-US" altLang="ko-KR" sz="1000" dirty="0" err="1">
                <a:solidFill>
                  <a:srgbClr val="333333"/>
                </a:solidFill>
              </a:rPr>
              <a:t>Docker·Health</a:t>
            </a:r>
            <a:r>
              <a:rPr lang="en-US" altLang="ko-KR" sz="1000" dirty="0">
                <a:solidFill>
                  <a:srgbClr val="333333"/>
                </a:solidFill>
              </a:rPr>
              <a:t> Check </a:t>
            </a:r>
            <a:r>
              <a:rPr lang="en-US" altLang="ko-KR" sz="1000" dirty="0" err="1">
                <a:solidFill>
                  <a:srgbClr val="333333"/>
                </a:solidFill>
              </a:rPr>
              <a:t>정상</a:t>
            </a:r>
            <a:r>
              <a:rPr lang="en-US" altLang="ko-KR" sz="1000" dirty="0">
                <a:solidFill>
                  <a:srgbClr val="333333"/>
                </a:solidFill>
              </a:rPr>
              <a:t> / </a:t>
            </a:r>
            <a:r>
              <a:rPr lang="en-US" altLang="ko-KR" sz="1000" dirty="0" err="1">
                <a:solidFill>
                  <a:srgbClr val="333333"/>
                </a:solidFill>
              </a:rPr>
              <a:t>Prometheus·Grafana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정상</a:t>
            </a:r>
            <a:r>
              <a:rPr lang="en-US" altLang="ko-KR" sz="1000" dirty="0">
                <a:solidFill>
                  <a:srgbClr val="333333"/>
                </a:solidFill>
              </a:rPr>
              <a:t> / TC-008~010 </a:t>
            </a:r>
            <a:r>
              <a:rPr lang="en-US" altLang="ko-KR" sz="1000" dirty="0" err="1">
                <a:solidFill>
                  <a:srgbClr val="333333"/>
                </a:solidFill>
              </a:rPr>
              <a:t>결함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관리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완료</a:t>
            </a:r>
            <a:r>
              <a:rPr lang="en-US" altLang="ko-KR" sz="1000" dirty="0">
                <a:solidFill>
                  <a:srgbClr val="333333"/>
                </a:solidFill>
              </a:rPr>
              <a:t> / </a:t>
            </a:r>
            <a:r>
              <a:rPr lang="en-US" altLang="ko-KR" sz="1000" dirty="0" err="1">
                <a:solidFill>
                  <a:srgbClr val="333333"/>
                </a:solidFill>
              </a:rPr>
              <a:t>pytest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전체</a:t>
            </a:r>
            <a:r>
              <a:rPr lang="en-US" altLang="ko-KR" sz="1000" dirty="0">
                <a:solidFill>
                  <a:srgbClr val="333333"/>
                </a:solidFill>
              </a:rPr>
              <a:t> PASS</a:t>
            </a:r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 err="1">
                <a:solidFill>
                  <a:srgbClr val="333333"/>
                </a:solidFill>
              </a:rPr>
              <a:t>재테스트</a:t>
            </a:r>
            <a:r>
              <a:rPr lang="en-US" altLang="ko-KR" sz="1000" dirty="0">
                <a:solidFill>
                  <a:srgbClr val="333333"/>
                </a:solidFill>
              </a:rPr>
              <a:t>: Jira(WT4-26~31) </a:t>
            </a:r>
            <a:r>
              <a:rPr lang="en-US" altLang="ko-KR" sz="1000" dirty="0" err="1">
                <a:solidFill>
                  <a:srgbClr val="333333"/>
                </a:solidFill>
              </a:rPr>
              <a:t>등록</a:t>
            </a:r>
            <a:r>
              <a:rPr lang="en-US" altLang="ko-KR" sz="1000" dirty="0">
                <a:solidFill>
                  <a:srgbClr val="333333"/>
                </a:solidFill>
              </a:rPr>
              <a:t> 5건 </a:t>
            </a:r>
            <a:r>
              <a:rPr lang="en-US" altLang="ko-KR" sz="1000" dirty="0" err="1">
                <a:solidFill>
                  <a:srgbClr val="333333"/>
                </a:solidFill>
              </a:rPr>
              <a:t>전체</a:t>
            </a:r>
            <a:r>
              <a:rPr lang="en-US" altLang="ko-KR" sz="1000" dirty="0">
                <a:solidFill>
                  <a:srgbClr val="333333"/>
                </a:solidFill>
              </a:rPr>
              <a:t> Closed — “</a:t>
            </a:r>
            <a:r>
              <a:rPr lang="en-US" altLang="ko-KR" sz="1000" dirty="0" err="1">
                <a:solidFill>
                  <a:srgbClr val="333333"/>
                </a:solidFill>
              </a:rPr>
              <a:t>오류율</a:t>
            </a:r>
            <a:r>
              <a:rPr lang="en-US" altLang="ko-KR" sz="1000" dirty="0">
                <a:solidFill>
                  <a:srgbClr val="333333"/>
                </a:solidFill>
              </a:rPr>
              <a:t> 0%, Docker </a:t>
            </a:r>
            <a:r>
              <a:rPr lang="en-US" altLang="ko-KR" sz="1000" dirty="0" err="1">
                <a:solidFill>
                  <a:srgbClr val="333333"/>
                </a:solidFill>
              </a:rPr>
              <a:t>정상</a:t>
            </a:r>
            <a:r>
              <a:rPr lang="en-US" altLang="ko-KR" sz="1000" dirty="0">
                <a:solidFill>
                  <a:srgbClr val="333333"/>
                </a:solidFill>
              </a:rPr>
              <a:t>, </a:t>
            </a:r>
            <a:r>
              <a:rPr lang="en-US" altLang="ko-KR" sz="1000" dirty="0" err="1">
                <a:solidFill>
                  <a:srgbClr val="333333"/>
                </a:solidFill>
              </a:rPr>
              <a:t>회귀</a:t>
            </a:r>
            <a:r>
              <a:rPr lang="en-US" altLang="ko-KR" sz="1000" dirty="0">
                <a:solidFill>
                  <a:srgbClr val="333333"/>
                </a:solidFill>
              </a:rPr>
              <a:t> PASS” </a:t>
            </a:r>
            <a:r>
              <a:rPr lang="en-US" altLang="ko-KR" sz="1000" dirty="0" err="1">
                <a:solidFill>
                  <a:srgbClr val="333333"/>
                </a:solidFill>
              </a:rPr>
              <a:t>확인</a:t>
            </a:r>
            <a:endParaRPr lang="en-US" altLang="ko-KR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656539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4조 | AI Agent 품질관리·운영 모니터링 | 6</a:t>
            </a:r>
            <a:endParaRPr lang="en-US" sz="7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E4DCA19-567F-4E52-B076-E0D5CAD65C09}"/>
              </a:ext>
            </a:extLst>
          </p:cNvPr>
          <p:cNvSpPr/>
          <p:nvPr/>
        </p:nvSpPr>
        <p:spPr>
          <a:xfrm>
            <a:off x="880872" y="3683579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Jira_4</a:t>
            </a:r>
            <a:r>
              <a:rPr lang="ko-KR" altLang="en-US" sz="1400" b="1" dirty="0">
                <a:solidFill>
                  <a:srgbClr val="0F3A5E"/>
                </a:solidFill>
              </a:rPr>
              <a:t>조</a:t>
            </a:r>
            <a:r>
              <a:rPr lang="en-US" altLang="ko-KR" sz="1400" b="1" dirty="0">
                <a:solidFill>
                  <a:srgbClr val="0F3A5E"/>
                </a:solidFill>
              </a:rPr>
              <a:t>_</a:t>
            </a:r>
            <a:r>
              <a:rPr lang="ko-KR" altLang="en-US" sz="1400" b="1" dirty="0">
                <a:solidFill>
                  <a:srgbClr val="0F3A5E"/>
                </a:solidFill>
              </a:rPr>
              <a:t>결함목록</a:t>
            </a:r>
            <a:r>
              <a:rPr lang="en-US" altLang="ko-KR" sz="1400" b="1" dirty="0">
                <a:solidFill>
                  <a:srgbClr val="0F3A5E"/>
                </a:solidFill>
              </a:rPr>
              <a:t> List</a:t>
            </a:r>
            <a:endParaRPr lang="en-US" sz="14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FC88A6F-44D0-4717-80E9-6E0798AC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92" y="3990616"/>
            <a:ext cx="10594848" cy="25255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최종 품질 판정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가능 여부와 팀 의견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83280" cy="2194560"/>
          </a:xfrm>
          <a:prstGeom prst="roundRect">
            <a:avLst>
              <a:gd name="adj" fmla="val 333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941832" y="143560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최종 판정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1801368"/>
            <a:ext cx="305409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□ 운영 가능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■ 조건부 가능 (rule 모드 기준 충족, api 모드는 정책 확정 후 확대)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□ 개선 필요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383280" cy="2194560"/>
          </a:xfrm>
          <a:prstGeom prst="roundRect">
            <a:avLst>
              <a:gd name="adj" fmla="val 333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4645152" y="143560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판정 근거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45152" y="1801368"/>
            <a:ext cx="305409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기능 테스트: pytest 25건 전체 PASS · 품질 파이프라인 rule 7/7 PASS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모니터링: /metrics 노출 · Prometheus 수집 · Grafana 실시간 관측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성능 테스트: k6 오류율 0.00% · p95 2.3ms (기준 충족)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결함 조치: DEF-001~005 전건 Closed (회귀 방지 테스트 승계)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3200400" cy="2194560"/>
          </a:xfrm>
          <a:prstGeom prst="roundRect">
            <a:avLst>
              <a:gd name="adj" fmla="val 333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2" name="Text 10"/>
          <p:cNvSpPr/>
          <p:nvPr/>
        </p:nvSpPr>
        <p:spPr>
          <a:xfrm>
            <a:off x="8348472" y="143560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향후 과제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8472" y="1801368"/>
            <a:ext cx="287121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1) Rule 지식 확장 + RAG 연동으로 커버리지 확대 (API 의존·비용 절감)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2) Golden Answer 이중 검증으로 Judge 오평가 완충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3) 평가 로그 시계열 적재 → 전일 대비 품질 변화 자동 리포트 (LLMOps)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757596"/>
            <a:ext cx="10607040" cy="2626423"/>
          </a:xfrm>
          <a:prstGeom prst="roundRect">
            <a:avLst>
              <a:gd name="adj" fmla="val 5714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sp>
      <p:sp>
        <p:nvSpPr>
          <p:cNvPr id="15" name="Text 13"/>
          <p:cNvSpPr/>
          <p:nvPr/>
        </p:nvSpPr>
        <p:spPr>
          <a:xfrm>
            <a:off x="941832" y="3867325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팀 회고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656539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4조 | AI Agent 품질관리·운영 모니터링 | 7</a:t>
            </a:r>
            <a:endParaRPr lang="en-US" sz="7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44D2C94-771B-4874-B5D5-7CF0E73C4D40}"/>
              </a:ext>
            </a:extLst>
          </p:cNvPr>
          <p:cNvSpPr/>
          <p:nvPr/>
        </p:nvSpPr>
        <p:spPr>
          <a:xfrm>
            <a:off x="1024129" y="4142316"/>
            <a:ext cx="10277855" cy="2017722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000" b="1" dirty="0"/>
              <a:t>이번 프로젝트를 통해 </a:t>
            </a:r>
            <a:r>
              <a:rPr lang="en-US" altLang="ko-KR" sz="1000" b="1" dirty="0" err="1"/>
              <a:t>FastAPI</a:t>
            </a:r>
            <a:r>
              <a:rPr lang="en-US" altLang="ko-KR" sz="1000" b="1" dirty="0"/>
              <a:t>, Prometheus, Grafana, k6 </a:t>
            </a:r>
            <a:r>
              <a:rPr lang="ko-KR" altLang="en-US" sz="1000" b="1" dirty="0"/>
              <a:t>등 다양한 </a:t>
            </a:r>
            <a:r>
              <a:rPr lang="en-US" altLang="ko-KR" sz="1000" b="1" dirty="0"/>
              <a:t>QA </a:t>
            </a:r>
            <a:r>
              <a:rPr lang="ko-KR" altLang="en-US" sz="1000" b="1" dirty="0"/>
              <a:t>도구를 직접 사용해 볼 수 있었습니다</a:t>
            </a:r>
            <a:r>
              <a:rPr lang="en-US" altLang="ko-KR" sz="10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b="1" dirty="0"/>
              <a:t>Grafana</a:t>
            </a:r>
            <a:r>
              <a:rPr lang="ko-KR" altLang="en-US" sz="1000" b="1" dirty="0"/>
              <a:t>와 </a:t>
            </a:r>
            <a:r>
              <a:rPr lang="en-US" altLang="ko-KR" sz="1000" b="1" dirty="0"/>
              <a:t>Prometheus</a:t>
            </a:r>
            <a:r>
              <a:rPr lang="ko-KR" altLang="en-US" sz="1000" b="1" dirty="0"/>
              <a:t>를 활용해 테스트 결과를 실시간으로 </a:t>
            </a:r>
            <a:r>
              <a:rPr lang="ko-KR" altLang="en-US" sz="1000" b="1" dirty="0" err="1"/>
              <a:t>시각화하며</a:t>
            </a:r>
            <a:r>
              <a:rPr lang="ko-KR" altLang="en-US" sz="1000" b="1" dirty="0"/>
              <a:t> 모니터링의 중요성을 배웠습니다</a:t>
            </a:r>
            <a:r>
              <a:rPr lang="en-US" altLang="ko-KR" sz="10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00" b="1" dirty="0"/>
              <a:t>또한 기능 테스트가 모두 </a:t>
            </a:r>
            <a:r>
              <a:rPr lang="en-US" altLang="ko-KR" sz="1000" b="1" dirty="0"/>
              <a:t>PASS</a:t>
            </a:r>
            <a:r>
              <a:rPr lang="ko-KR" altLang="en-US" sz="1000" b="1" dirty="0"/>
              <a:t>여도 서비스 품질이 보장되는 것은 아니라는 점을 알게 되었습니다</a:t>
            </a:r>
            <a:r>
              <a:rPr lang="en-US" altLang="ko-KR" sz="10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00" b="1" dirty="0"/>
              <a:t>성능 테스트와 운영 환경까지 함께 검증해야 실제 운영 가능 여부를 판단할 수 있음을 경험했습니다</a:t>
            </a:r>
            <a:r>
              <a:rPr lang="en-US" altLang="ko-KR" sz="10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b="1" dirty="0"/>
              <a:t>k6</a:t>
            </a:r>
            <a:r>
              <a:rPr lang="ko-KR" altLang="en-US" sz="1000" b="1" dirty="0"/>
              <a:t>의 </a:t>
            </a:r>
            <a:r>
              <a:rPr lang="en-US" altLang="ko-KR" sz="1000" b="1" dirty="0"/>
              <a:t>VUS </a:t>
            </a:r>
            <a:r>
              <a:rPr lang="ko-KR" altLang="en-US" sz="1000" b="1" dirty="0"/>
              <a:t>설정 오류를 해결하면서 테스트 도구와 실행 환경도 검증 대상이라는 점을 배웠습니다</a:t>
            </a:r>
            <a:r>
              <a:rPr lang="en-US" altLang="ko-KR" sz="10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00" b="1" dirty="0" err="1"/>
              <a:t>로그뿐만</a:t>
            </a:r>
            <a:r>
              <a:rPr lang="ko-KR" altLang="en-US" sz="1000" b="1" dirty="0"/>
              <a:t> 아니라 포트 매핑</a:t>
            </a:r>
            <a:r>
              <a:rPr lang="en-US" altLang="ko-KR" sz="1000" b="1" dirty="0"/>
              <a:t>, Health Check, </a:t>
            </a:r>
            <a:r>
              <a:rPr lang="ko-KR" altLang="en-US" sz="1000" b="1" dirty="0"/>
              <a:t>모니터링 지표를 함께 확인하는 습관의 중요성도 느꼈습니다</a:t>
            </a:r>
            <a:r>
              <a:rPr lang="en-US" altLang="ko-KR" sz="10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00" b="1" dirty="0"/>
              <a:t>기능 테스트부터 성능 테스트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모니터링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결함 관리까지 </a:t>
            </a:r>
            <a:r>
              <a:rPr lang="en-US" altLang="ko-KR" sz="1000" b="1" dirty="0"/>
              <a:t>QA </a:t>
            </a:r>
            <a:r>
              <a:rPr lang="ko-KR" altLang="en-US" sz="1000" b="1" dirty="0"/>
              <a:t>전 과정을 직접 경험할 수 있었습니다</a:t>
            </a:r>
            <a:r>
              <a:rPr lang="en-US" altLang="ko-KR" sz="10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00" b="1" dirty="0"/>
              <a:t>이번 프로젝트는 새로운 도구를 배우는 과정이 쉽지는 않았지만 매우 의미 있는 경험이었습니다</a:t>
            </a:r>
            <a:r>
              <a:rPr lang="en-US" altLang="ko-KR" sz="10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00" b="1" dirty="0"/>
              <a:t>앞으로도 객관적인 데이터를 기반으로 문제를 분석하고 품질을 개선하는 </a:t>
            </a:r>
            <a:r>
              <a:rPr lang="en-US" altLang="ko-KR" sz="1000" b="1" dirty="0"/>
              <a:t>QA </a:t>
            </a:r>
            <a:r>
              <a:rPr lang="ko-KR" altLang="en-US" sz="1000" b="1" dirty="0"/>
              <a:t>엔지니어로 성장하고자 합니다</a:t>
            </a:r>
            <a:r>
              <a:rPr lang="en-US" altLang="ko-KR" sz="1200" b="1" dirty="0"/>
              <a:t>.</a:t>
            </a:r>
            <a:endParaRPr lang="en-US" sz="1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1345</Words>
  <Application>Microsoft Office PowerPoint</Application>
  <PresentationFormat>와이드스크린</PresentationFormat>
  <Paragraphs>141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품질관리 팀별 발표자료 템플릿</dc:title>
  <dc:subject>팀별 발표자료 템플릿</dc:subject>
  <dc:creator>OpenAI</dc:creator>
  <cp:lastModifiedBy>DWIT</cp:lastModifiedBy>
  <cp:revision>6</cp:revision>
  <dcterms:created xsi:type="dcterms:W3CDTF">2026-06-28T05:46:33Z</dcterms:created>
  <dcterms:modified xsi:type="dcterms:W3CDTF">2026-07-09T05:13:30Z</dcterms:modified>
</cp:coreProperties>
</file>