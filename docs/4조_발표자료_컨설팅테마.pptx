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206240" cy="4206240"/>
          </a:xfrm>
          <a:prstGeom prst="ellipse">
            <a:avLst/>
          </a:prstGeom>
          <a:solidFill>
            <a:srgbClr val="12305B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937760"/>
            <a:ext cx="3291840" cy="3291840"/>
          </a:xfrm>
          <a:prstGeom prst="ellipse">
            <a:avLst/>
          </a:prstGeom>
          <a:solidFill>
            <a:srgbClr val="12305B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65836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2D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SW 품질관리 및 모니터링 실무 10일 과정  ·  팀 프로젝트 최종 발표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58368" y="100584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Agent 품질관리·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모니터링 플랫폼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761488"/>
            <a:ext cx="6309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“기능 테스트 PASS만으로는 부족하다 — 성능·모니터링·결함관리까지 검증해야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진짜 운영 가능 판정이 나온다”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85800" y="3749040"/>
            <a:ext cx="1828800" cy="566928"/>
          </a:xfrm>
          <a:prstGeom prst="roundRect">
            <a:avLst>
              <a:gd name="adj" fmla="val 14516"/>
            </a:avLst>
          </a:prstGeom>
          <a:solidFill>
            <a:srgbClr val="12305B"/>
          </a:solidFill>
          <a:ln w="12700">
            <a:solidFill>
              <a:srgbClr val="1E42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374904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D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팀명  </a:t>
            </a:r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4조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679192" y="3749040"/>
            <a:ext cx="1828800" cy="566928"/>
          </a:xfrm>
          <a:prstGeom prst="roundRect">
            <a:avLst>
              <a:gd name="adj" fmla="val 14516"/>
            </a:avLst>
          </a:prstGeom>
          <a:solidFill>
            <a:srgbClr val="12305B"/>
          </a:solidFill>
          <a:ln w="12700">
            <a:solidFill>
              <a:srgbClr val="1E42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79192" y="374904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D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발표일  </a:t>
            </a:r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2026-07-10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72584" y="3749040"/>
            <a:ext cx="1828800" cy="566928"/>
          </a:xfrm>
          <a:prstGeom prst="roundRect">
            <a:avLst>
              <a:gd name="adj" fmla="val 14516"/>
            </a:avLst>
          </a:prstGeom>
          <a:solidFill>
            <a:srgbClr val="12305B"/>
          </a:solidFill>
          <a:ln w="12700">
            <a:solidFill>
              <a:srgbClr val="1E427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72584" y="374904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D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발표자  </a:t>
            </a:r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4조 팀원</a:t>
            </a:r>
            <a:endParaRPr lang="en-US" sz="950" dirty="0"/>
          </a:p>
        </p:txBody>
      </p:sp>
      <p:pic>
        <p:nvPicPr>
          <p:cNvPr id="13" name="Image 0" descr="character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4462272"/>
            <a:ext cx="1965960" cy="196596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7635240" y="822960"/>
            <a:ext cx="4069080" cy="5394960"/>
          </a:xfrm>
          <a:prstGeom prst="roundRect">
            <a:avLst>
              <a:gd name="adj" fmla="val 2247"/>
            </a:avLst>
          </a:prstGeom>
          <a:solidFill>
            <a:srgbClr val="0E2748"/>
          </a:solidFill>
          <a:ln w="12700">
            <a:solidFill>
              <a:srgbClr val="1E4270"/>
            </a:solidFill>
            <a:prstDash val="solid"/>
          </a:ln>
          <a:effectLst>
            <a:outerShdw sx="100000" sy="100000" kx="0" ky="0" algn="bl" rotWithShape="0" blurRad="101600" dist="38100" dir="3300000">
              <a:srgbClr val="000000">
                <a:alpha val="14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863840" y="96926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2D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 OVERVIEW  ·  전체 구조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909560" y="1389888"/>
            <a:ext cx="1188720" cy="603504"/>
          </a:xfrm>
          <a:prstGeom prst="roundRect">
            <a:avLst>
              <a:gd name="adj" fmla="val 10606"/>
            </a:avLst>
          </a:prstGeom>
          <a:solidFill>
            <a:srgbClr val="173B66"/>
          </a:solidFill>
          <a:ln w="12700">
            <a:solidFill>
              <a:srgbClr val="2A5E9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909560" y="1389888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교육과정 문의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9875520" y="1389888"/>
            <a:ext cx="1572768" cy="603504"/>
          </a:xfrm>
          <a:prstGeom prst="roundRect">
            <a:avLst>
              <a:gd name="adj" fmla="val 10606"/>
            </a:avLst>
          </a:prstGeom>
          <a:solidFill>
            <a:srgbClr val="1D5C8F"/>
          </a:solidFill>
          <a:ln w="12700">
            <a:solidFill>
              <a:srgbClr val="1D5C8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75520" y="1389888"/>
            <a:ext cx="15727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 챗봇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/ask · rule·api 모드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9116568" y="1691640"/>
            <a:ext cx="740664" cy="0"/>
          </a:xfrm>
          <a:prstGeom prst="line">
            <a:avLst/>
          </a:prstGeom>
          <a:noFill/>
          <a:ln w="2794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9875520" y="2395728"/>
            <a:ext cx="1572768" cy="603504"/>
          </a:xfrm>
          <a:prstGeom prst="roundRect">
            <a:avLst>
              <a:gd name="adj" fmla="val 10606"/>
            </a:avLst>
          </a:prstGeom>
          <a:solidFill>
            <a:srgbClr val="1D5C8F"/>
          </a:solidFill>
          <a:ln w="12700">
            <a:solidFill>
              <a:srgbClr val="1D5C8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875520" y="2395728"/>
            <a:ext cx="15727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 평가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+ LLM Judge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0661904" y="2011680"/>
            <a:ext cx="0" cy="365760"/>
          </a:xfrm>
          <a:prstGeom prst="line">
            <a:avLst/>
          </a:prstGeom>
          <a:noFill/>
          <a:ln w="2794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9875520" y="3401568"/>
            <a:ext cx="1572768" cy="603504"/>
          </a:xfrm>
          <a:prstGeom prst="roundRect">
            <a:avLst>
              <a:gd name="adj" fmla="val 10606"/>
            </a:avLst>
          </a:prstGeom>
          <a:solidFill>
            <a:srgbClr val="173B66"/>
          </a:solidFill>
          <a:ln w="12700">
            <a:solidFill>
              <a:srgbClr val="173B6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875520" y="3401568"/>
            <a:ext cx="15727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 · Jira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결함 5건 등록·추적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10661904" y="3017520"/>
            <a:ext cx="0" cy="365760"/>
          </a:xfrm>
          <a:prstGeom prst="line">
            <a:avLst/>
          </a:prstGeom>
          <a:noFill/>
          <a:ln w="2794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7909560" y="2395728"/>
            <a:ext cx="1188720" cy="603504"/>
          </a:xfrm>
          <a:prstGeom prst="roundRect">
            <a:avLst>
              <a:gd name="adj" fmla="val 10606"/>
            </a:avLst>
          </a:prstGeom>
          <a:solidFill>
            <a:srgbClr val="8A3B3B"/>
          </a:solidFill>
          <a:ln w="12700">
            <a:solidFill>
              <a:srgbClr val="8A3B3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909560" y="2395728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k6 부하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성능 테스트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 flipV="1">
            <a:off x="9116568" y="2057400"/>
            <a:ext cx="740664" cy="640080"/>
          </a:xfrm>
          <a:prstGeom prst="line">
            <a:avLst/>
          </a:prstGeom>
          <a:noFill/>
          <a:ln w="2794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7909560" y="3401568"/>
            <a:ext cx="1188720" cy="603504"/>
          </a:xfrm>
          <a:prstGeom prst="roundRect">
            <a:avLst>
              <a:gd name="adj" fmla="val 10606"/>
            </a:avLst>
          </a:prstGeom>
          <a:solidFill>
            <a:srgbClr val="2C6B54"/>
          </a:solidFill>
          <a:ln w="12700">
            <a:solidFill>
              <a:srgbClr val="2C6B5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909560" y="3401568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pytest 25건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테스트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 flipV="1">
            <a:off x="9116568" y="2834640"/>
            <a:ext cx="740664" cy="868680"/>
          </a:xfrm>
          <a:prstGeom prst="line">
            <a:avLst/>
          </a:prstGeom>
          <a:noFill/>
          <a:ln w="2794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33" name="Shape 30"/>
          <p:cNvSpPr/>
          <p:nvPr/>
        </p:nvSpPr>
        <p:spPr>
          <a:xfrm>
            <a:off x="7909560" y="4526280"/>
            <a:ext cx="1572768" cy="566928"/>
          </a:xfrm>
          <a:prstGeom prst="roundRect">
            <a:avLst>
              <a:gd name="adj" fmla="val 11290"/>
            </a:avLst>
          </a:prstGeom>
          <a:solidFill>
            <a:srgbClr val="5B4E86"/>
          </a:solidFill>
          <a:ln w="12700">
            <a:solidFill>
              <a:srgbClr val="5B4E86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909560" y="4526280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Prometheus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/metrics 수집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9875520" y="4526280"/>
            <a:ext cx="1572768" cy="566928"/>
          </a:xfrm>
          <a:prstGeom prst="roundRect">
            <a:avLst>
              <a:gd name="adj" fmla="val 11290"/>
            </a:avLst>
          </a:prstGeom>
          <a:solidFill>
            <a:srgbClr val="5B4E86"/>
          </a:solidFill>
          <a:ln w="12700">
            <a:solidFill>
              <a:srgbClr val="5B4E86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9875520" y="4526280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Grafana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대시보드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10661904" y="4023360"/>
            <a:ext cx="0" cy="484632"/>
          </a:xfrm>
          <a:prstGeom prst="line">
            <a:avLst/>
          </a:prstGeom>
          <a:noFill/>
          <a:ln w="27940">
            <a:solidFill>
              <a:srgbClr val="CADCFC"/>
            </a:solidFill>
            <a:prstDash val="dash"/>
            <a:tailEnd type="triangle"/>
          </a:ln>
        </p:spPr>
      </p:sp>
      <p:sp>
        <p:nvSpPr>
          <p:cNvPr id="38" name="Shape 35"/>
          <p:cNvSpPr/>
          <p:nvPr/>
        </p:nvSpPr>
        <p:spPr>
          <a:xfrm>
            <a:off x="9500616" y="4809744"/>
            <a:ext cx="356616" cy="0"/>
          </a:xfrm>
          <a:prstGeom prst="line">
            <a:avLst/>
          </a:prstGeom>
          <a:noFill/>
          <a:ln w="2794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39" name="Text 36"/>
          <p:cNvSpPr/>
          <p:nvPr/>
        </p:nvSpPr>
        <p:spPr>
          <a:xfrm>
            <a:off x="7863840" y="5321808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→ 답변 → 자동 품질평가 → 보고서·결함관리, 전 구간을 Prometheus·Grafana로 관측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프로젝트 개요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Agent와 품질관리 범위를 한 장으로 정리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11228832" y="347472"/>
            <a:ext cx="566928" cy="384048"/>
          </a:xfrm>
          <a:prstGeom prst="roundRect">
            <a:avLst>
              <a:gd name="adj" fmla="val 23810"/>
            </a:avLst>
          </a:prstGeom>
          <a:solidFill>
            <a:srgbClr val="0B1F3A"/>
          </a:solidFill>
          <a:ln/>
        </p:spPr>
      </p:sp>
      <p:sp>
        <p:nvSpPr>
          <p:cNvPr id="5" name="Text 3"/>
          <p:cNvSpPr/>
          <p:nvPr/>
        </p:nvSpPr>
        <p:spPr>
          <a:xfrm>
            <a:off x="11228832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4조  |  AI Agent 품질관리·운영 모니터링 플랫폼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325880"/>
            <a:ext cx="3611880" cy="26060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3300000">
              <a:srgbClr val="0B1F3A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04088" y="1508760"/>
            <a:ext cx="420624" cy="420624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1604772"/>
            <a:ext cx="228600" cy="228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52728" y="1508760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Agent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777240" y="2075688"/>
            <a:ext cx="31089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서비스명: 교육과정 안내 챗봇 (FastAPI)</a:t>
            </a:r>
            <a:endParaRPr lang="en-US" sz="1000" dirty="0"/>
          </a:p>
          <a:p>
            <a:pPr marL="127000" indent="-1270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기능: 질의응답(/ask, rule·api 모드) + 답변 자동 품질평가(규칙+Judge)</a:t>
            </a:r>
            <a:endParaRPr lang="en-US" sz="1000" dirty="0"/>
          </a:p>
          <a:p>
            <a:pPr marL="127000" indent="-1270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시나리오: 교육시간·출결 등 과정 문의 → 근거 기반 답변, 범위 외·위험 질문은 거절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315968" y="1325880"/>
            <a:ext cx="3611880" cy="26060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3300000">
              <a:srgbClr val="0B1F3A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17136" y="1508760"/>
            <a:ext cx="420624" cy="420624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3148" y="1604772"/>
            <a:ext cx="228600" cy="2286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065776" y="1508760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품질관리 범위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4590288" y="2075688"/>
            <a:ext cx="31089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테스트 — pytest 자동 테스트 25건</a:t>
            </a:r>
            <a:endParaRPr lang="en-US" sz="1000" dirty="0"/>
          </a:p>
          <a:p>
            <a:pPr marL="127000" indent="-1270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로그/모니터링 — Prometheus · Grafana</a:t>
            </a:r>
            <a:endParaRPr lang="en-US" sz="1000" dirty="0"/>
          </a:p>
          <a:p>
            <a:pPr marL="127000" indent="-1270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성능 테스트 — k6 부하 테스트</a:t>
            </a:r>
            <a:endParaRPr lang="en-US" sz="1000" dirty="0"/>
          </a:p>
          <a:p>
            <a:pPr marL="127000" indent="-1270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결함관리 — 결함 보고서 5건 (TC-008~010, DEF-004·005)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8129016" y="1325880"/>
            <a:ext cx="3611880" cy="26060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3300000">
              <a:srgbClr val="0B1F3A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330184" y="1508760"/>
            <a:ext cx="420624" cy="420624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6196" y="1604772"/>
            <a:ext cx="228600" cy="2286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878824" y="1508760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역할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8403336" y="2075688"/>
            <a:ext cx="31089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총괄/개발: 백성현, 김용균</a:t>
            </a:r>
            <a:endParaRPr lang="en-US" sz="1000" dirty="0"/>
          </a:p>
          <a:p>
            <a:pPr marL="127000" indent="-1270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QA/품질관리: 박선영</a:t>
            </a:r>
            <a:endParaRPr lang="en-US" sz="1000" dirty="0"/>
          </a:p>
          <a:p>
            <a:pPr marL="127000" indent="-1270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Dashboard 구현: 백성현, 김용균, 유현주</a:t>
            </a:r>
            <a:endParaRPr lang="en-US" sz="1000" dirty="0"/>
          </a:p>
          <a:p>
            <a:pPr marL="127000" indent="-1270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발표/시연: 유현주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502920" y="4133088"/>
            <a:ext cx="539496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3300000">
              <a:srgbClr val="0B1F3A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04088" y="4315968"/>
            <a:ext cx="420624" cy="420624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4411980"/>
            <a:ext cx="228600" cy="2286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252728" y="4315968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목적</a:t>
            </a:r>
            <a:endParaRPr lang="en-US" sz="1450" dirty="0"/>
          </a:p>
        </p:txBody>
      </p:sp>
      <p:sp>
        <p:nvSpPr>
          <p:cNvPr id="26" name="Text 20"/>
          <p:cNvSpPr/>
          <p:nvPr/>
        </p:nvSpPr>
        <p:spPr>
          <a:xfrm>
            <a:off x="777240" y="4846320"/>
            <a:ext cx="4892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Agent의 답변 품질을 자동으로 검증하고, 기능 테스트·성능 테스트·운영 모니터링을 통합합니다. 서비스 품질을 객관적으로 평가하는 QA 자동화 플랫폼을 구축하는 것이 목적이며, 결함을 조기에 발견·개선하여 안정적인 운영 환경을 검증하는 것을 목표로 합니다.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6099048" y="4133088"/>
            <a:ext cx="5586984" cy="2103120"/>
          </a:xfrm>
          <a:prstGeom prst="roundRect">
            <a:avLst>
              <a:gd name="adj" fmla="val 3913"/>
            </a:avLst>
          </a:prstGeom>
          <a:solidFill>
            <a:srgbClr val="0E2748"/>
          </a:solidFill>
          <a:ln/>
          <a:effectLst>
            <a:outerShdw sx="100000" sy="100000" kx="0" ky="0" algn="bl" rotWithShape="0" blurRad="127000" dist="38100" dir="3300000">
              <a:srgbClr val="0B1F3A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300216" y="4315968"/>
            <a:ext cx="420624" cy="420624"/>
          </a:xfrm>
          <a:prstGeom prst="ellipse">
            <a:avLst/>
          </a:prstGeom>
          <a:solidFill>
            <a:srgbClr val="1D5C8F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6228" y="4411980"/>
            <a:ext cx="228600" cy="22860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6848856" y="4315968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발표의 핵심 메시지</a:t>
            </a:r>
            <a:endParaRPr lang="en-US" sz="1450" dirty="0"/>
          </a:p>
        </p:txBody>
      </p:sp>
      <p:sp>
        <p:nvSpPr>
          <p:cNvPr id="31" name="Text 24"/>
          <p:cNvSpPr/>
          <p:nvPr/>
        </p:nvSpPr>
        <p:spPr>
          <a:xfrm>
            <a:off x="6373368" y="4846320"/>
            <a:ext cx="5074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k6 부하테스트 설정 오류(vus 10000)로 오류율 100%가 발생하는 장애를 발견해 문서 기준(vus 3)으로 수정, </a:t>
            </a:r>
            <a:pPr indent="0" marL="0">
              <a:lnSpc>
                <a:spcPct val="122000"/>
              </a:lnSpc>
              <a:buNone/>
            </a:pPr>
            <a:r>
              <a:rPr lang="en-US" sz="1000" b="1" dirty="0">
                <a:solidFill>
                  <a:srgbClr val="22D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오류율 0.00% · p95 2.3ms</a:t>
            </a:r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개선했습니다. 기능 테스트 25건 전체 PASS, 품질 파이프라인 7/7 PASS, Grafana 실시간 지표(요청량·오류율·p95·PASS율)를 근거로 최종 </a:t>
            </a:r>
            <a:pPr indent="0" marL="0">
              <a:lnSpc>
                <a:spcPct val="122000"/>
              </a:lnSpc>
              <a:buNone/>
            </a:pPr>
            <a:r>
              <a:rPr lang="en-US" sz="1000" b="1" dirty="0">
                <a:solidFill>
                  <a:srgbClr val="22D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“조건부 운영 가능”</a:t>
            </a:r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판정했습니다.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테스트 설계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실행한 테스트케이스와 장애 시나리오 요약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11228832" y="347472"/>
            <a:ext cx="566928" cy="384048"/>
          </a:xfrm>
          <a:prstGeom prst="roundRect">
            <a:avLst>
              <a:gd name="adj" fmla="val 23810"/>
            </a:avLst>
          </a:prstGeom>
          <a:solidFill>
            <a:srgbClr val="0B1F3A"/>
          </a:solidFill>
          <a:ln/>
        </p:spPr>
      </p:sp>
      <p:sp>
        <p:nvSpPr>
          <p:cNvPr id="5" name="Text 3"/>
          <p:cNvSpPr/>
          <p:nvPr/>
        </p:nvSpPr>
        <p:spPr>
          <a:xfrm>
            <a:off x="11228832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4조  |  AI Agent 품질관리·운영 모니터링 플랫폼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298448"/>
            <a:ext cx="265176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3300000">
              <a:srgbClr val="0B1F3A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1389888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25건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801368" y="1389888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테스트케이스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55848" y="1298448"/>
            <a:ext cx="265176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3300000">
              <a:srgbClr val="0B1F3A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38728" y="1389888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A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25건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654296" y="1389888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 (전체 GREEN)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08776" y="1298448"/>
            <a:ext cx="265176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3300000">
              <a:srgbClr val="0B1F3A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91656" y="1389888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0건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507224" y="1389888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FAIL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061704" y="1298448"/>
            <a:ext cx="265176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3300000">
              <a:srgbClr val="0B1F3A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44584" y="1389888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0건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0360152" y="1389888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BLOCKED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" y="2450592"/>
            <a:ext cx="5440680" cy="3749040"/>
          </a:xfrm>
          <a:prstGeom prst="roundRect">
            <a:avLst>
              <a:gd name="adj" fmla="val 21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3300000">
              <a:srgbClr val="0B1F3A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04088" y="2633472"/>
            <a:ext cx="420624" cy="420624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2729484"/>
            <a:ext cx="228600" cy="2286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252728" y="2633472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검증 포인트  (pytest 자동 테스트)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777240" y="3182112"/>
            <a:ext cx="49377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 Check — /health · /metrics 노출 확인</a:t>
            </a:r>
            <a:endParaRPr lang="en-US" sz="1050" dirty="0"/>
          </a:p>
          <a:p>
            <a:pPr marL="127000" indent="-1270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 질문 응답 — Happy 4케이스 키워드·스키마 검증</a:t>
            </a:r>
            <a:endParaRPr lang="en-US" sz="1050" dirty="0"/>
          </a:p>
          <a:p>
            <a:pPr marL="127000" indent="-1270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Negative 입력 — 빈 질문·형식 오류 422, 위험 질문 거절</a:t>
            </a:r>
            <a:endParaRPr lang="en-US" sz="1050" dirty="0"/>
          </a:p>
          <a:p>
            <a:pPr marL="127000" indent="-1270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fault-lab 장애 시나리오 — normal · delay · error500 · timeout</a:t>
            </a:r>
            <a:endParaRPr lang="en-US" sz="1050" dirty="0"/>
          </a:p>
          <a:p>
            <a:pPr marL="127000" indent="-1270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 파이프라인 — rule 기준선 7/7 PASS · 보고서 3종 생성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6144768" y="2450592"/>
            <a:ext cx="5541264" cy="3749040"/>
          </a:xfrm>
          <a:prstGeom prst="roundRect">
            <a:avLst>
              <a:gd name="adj" fmla="val 21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3300000">
              <a:srgbClr val="0B1F3A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345936" y="2633472"/>
            <a:ext cx="420624" cy="420624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1948" y="2729484"/>
            <a:ext cx="228600" cy="22860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6894576" y="2633472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 시나리오</a:t>
            </a:r>
            <a:endParaRPr lang="en-US" sz="1450" dirty="0"/>
          </a:p>
        </p:txBody>
      </p:sp>
      <p:sp>
        <p:nvSpPr>
          <p:cNvPr id="28" name="Text 24"/>
          <p:cNvSpPr/>
          <p:nvPr/>
        </p:nvSpPr>
        <p:spPr>
          <a:xfrm>
            <a:off x="6419088" y="3163824"/>
            <a:ext cx="5029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유형 1 — 500 서버 오류 (fault-lab error500)</a:t>
            </a:r>
            <a:endParaRPr lang="en-US" sz="1000" dirty="0"/>
          </a:p>
          <a:p>
            <a:pPr marL="127000" indent="-1270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유형 2 — 응답 지연·타임아웃 (delay · timeout 504)</a:t>
            </a:r>
            <a:endParaRPr lang="en-US" sz="1000" dirty="0"/>
          </a:p>
          <a:p>
            <a:pPr marL="127000" indent="-1270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유형 3 — 과부하로 인한 서버 응답 불능 (k6 vus 오설정)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6419088" y="4443984"/>
            <a:ext cx="4992624" cy="1536192"/>
          </a:xfrm>
          <a:prstGeom prst="roundRect">
            <a:avLst>
              <a:gd name="adj" fmla="val 4167"/>
            </a:avLst>
          </a:prstGeom>
          <a:solidFill>
            <a:srgbClr val="FDF0F0"/>
          </a:solidFill>
          <a:ln w="12700">
            <a:solidFill>
              <a:srgbClr val="DC4A4A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6601968" y="4572000"/>
            <a:ext cx="4663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DC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중요한 장애 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k6 vus=10000 오설정 → 오류율 100% + 좀비 소켓 2차 피해 (DEF-004)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DC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 추정 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스크립트 vus 값이 문서 설계(vus 3)와 불일치 — 로컬 단일 프로세스가 감당 불가한 부하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DC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 방법 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전 k6_test.js(vus 10000)로 k6 run → /health 대상 30초 부하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모니터링 결과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Prometheus · Grafana · 로그 분석 결과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11228832" y="347472"/>
            <a:ext cx="566928" cy="384048"/>
          </a:xfrm>
          <a:prstGeom prst="roundRect">
            <a:avLst>
              <a:gd name="adj" fmla="val 23810"/>
            </a:avLst>
          </a:prstGeom>
          <a:solidFill>
            <a:srgbClr val="0B1F3A"/>
          </a:solidFill>
          <a:ln/>
        </p:spPr>
      </p:sp>
      <p:sp>
        <p:nvSpPr>
          <p:cNvPr id="5" name="Text 3"/>
          <p:cNvSpPr/>
          <p:nvPr/>
        </p:nvSpPr>
        <p:spPr>
          <a:xfrm>
            <a:off x="11228832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4조  |  AI Agent 품질관리·운영 모니터링 플랫폼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325880"/>
            <a:ext cx="4572000" cy="269748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3300000">
              <a:srgbClr val="0B1F3A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04088" y="1508760"/>
            <a:ext cx="420624" cy="420624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1604772"/>
            <a:ext cx="228600" cy="228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52728" y="1508760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지표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777240" y="2039112"/>
            <a:ext cx="4069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8000"/>
              </a:lnSpc>
              <a:spcAft>
                <a:spcPts val="55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수: 13.2 (agent_request_total 현재값)</a:t>
            </a:r>
            <a:endParaRPr lang="en-US" sz="1000" dirty="0"/>
          </a:p>
          <a:p>
            <a:pPr marL="127000" indent="-127000">
              <a:lnSpc>
                <a:spcPct val="108000"/>
              </a:lnSpc>
              <a:spcAft>
                <a:spcPts val="55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성공률: 59.8 (agent_success_total)</a:t>
            </a:r>
            <a:endParaRPr lang="en-US" sz="1000" dirty="0"/>
          </a:p>
          <a:p>
            <a:pPr marL="127000" indent="-127000">
              <a:lnSpc>
                <a:spcPct val="108000"/>
              </a:lnSpc>
              <a:spcAft>
                <a:spcPts val="55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오류율: 92.8 (agent_error_total — 모드별 4~10%)</a:t>
            </a:r>
            <a:endParaRPr lang="en-US" sz="1000" dirty="0"/>
          </a:p>
          <a:p>
            <a:pPr marL="127000" indent="-127000">
              <a:lnSpc>
                <a:spcPct val="108000"/>
              </a:lnSpc>
              <a:spcAft>
                <a:spcPts val="55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 응답시간: 78~86초 범위 (agent_response_seconds)</a:t>
            </a:r>
            <a:endParaRPr lang="en-US" sz="1000" dirty="0"/>
          </a:p>
          <a:p>
            <a:pPr marL="127000" indent="-127000">
              <a:lnSpc>
                <a:spcPct val="108000"/>
              </a:lnSpc>
              <a:spcAft>
                <a:spcPts val="55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p95 응답시간: 35~50 (mode별 p95, Grafana 실시간 확인)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02920" y="4206240"/>
            <a:ext cx="4572000" cy="2029968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3300000">
              <a:srgbClr val="0B1F3A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04088" y="4389120"/>
            <a:ext cx="420624" cy="420624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4485132"/>
            <a:ext cx="228600" cy="2286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252728" y="4389120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 근거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777240" y="4919472"/>
            <a:ext cx="4069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로그 위치: /metrics (Prometheus), Grafana :3000</a:t>
            </a:r>
            <a:endParaRPr lang="en-US" sz="950" dirty="0"/>
          </a:p>
          <a:p>
            <a:pPr marL="127000" indent="-1270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관측 기간: 05:30~11:00 (Last 6 hours 대시보드)</a:t>
            </a:r>
            <a:endParaRPr lang="en-US" sz="950" dirty="0"/>
          </a:p>
          <a:p>
            <a:pPr marL="127000" indent="-1270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메시지: 품질평가 PASS율 10→22% 상승 (07:00~09:30)</a:t>
            </a:r>
            <a:endParaRPr lang="en-US" sz="950" dirty="0"/>
          </a:p>
          <a:p>
            <a:pPr marL="127000" indent="-1270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 후보: fault-lab 실행 → 오류율·지연 지표 동시 상승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5303520" y="1325880"/>
            <a:ext cx="6382512" cy="4910328"/>
          </a:xfrm>
          <a:prstGeom prst="roundRect">
            <a:avLst>
              <a:gd name="adj" fmla="val 1676"/>
            </a:avLst>
          </a:prstGeom>
          <a:solidFill>
            <a:srgbClr val="0E2748"/>
          </a:solidFill>
          <a:ln/>
          <a:effectLst>
            <a:outerShdw sx="100000" sy="100000" kx="0" ky="0" algn="bl" rotWithShape="0" blurRad="127000" dist="38100" dir="3300000">
              <a:srgbClr val="0B1F3A">
                <a:alpha val="10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5532120" y="1453896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2D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GRAFANA DASHBOARD  ·  실시간 관측 화면</a:t>
            </a:r>
            <a:endParaRPr lang="en-US" sz="1000" dirty="0"/>
          </a:p>
        </p:txBody>
      </p:sp>
      <p:pic>
        <p:nvPicPr>
          <p:cNvPr id="19" name="Image 2" descr="unpacked/ppt/media/grafana_dash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1801368"/>
            <a:ext cx="5925312" cy="325526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532120" y="5184648"/>
            <a:ext cx="5897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요청량·오류율·p95·품질평가 PASS율 4개 지표를 실시간 관측 — 장애 시나리오 실행 시 지표 변화를 즉시 포착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성능테스트 결과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JMeter 또는 k6 결과를 기준으로 최종 판정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11228832" y="347472"/>
            <a:ext cx="566928" cy="384048"/>
          </a:xfrm>
          <a:prstGeom prst="roundRect">
            <a:avLst>
              <a:gd name="adj" fmla="val 23810"/>
            </a:avLst>
          </a:prstGeom>
          <a:solidFill>
            <a:srgbClr val="0B1F3A"/>
          </a:solidFill>
          <a:ln/>
        </p:spPr>
      </p:sp>
      <p:sp>
        <p:nvSpPr>
          <p:cNvPr id="5" name="Text 3"/>
          <p:cNvSpPr/>
          <p:nvPr/>
        </p:nvSpPr>
        <p:spPr>
          <a:xfrm>
            <a:off x="11228832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4조  |  AI Agent 품질관리·운영 모니터링 플랫폼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98448"/>
          <a:ext cx="1118311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828800"/>
                <a:gridCol w="1737360"/>
                <a:gridCol w="1737360"/>
                <a:gridCol w="1737360"/>
                <a:gridCol w="176479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총 요청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오류율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평균(ms)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p95(ms)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k6 (1차·수정 전)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141,375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C4A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측정 불가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측정 불가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C4A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Fail (무효)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k6 (2차·수정 후)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295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A97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0.00%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1.57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A97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PASS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02920" y="2697480"/>
            <a:ext cx="7315200" cy="356616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3300000">
              <a:srgbClr val="0B1F3A">
                <a:alpha val="10000"/>
              </a:srgbClr>
            </a:outerShdw>
          </a:effectLst>
        </p:spPr>
      </p:sp>
      <p:pic>
        <p:nvPicPr>
          <p:cNvPr id="9" name="Image 0" descr="unpacked/ppt/media/k6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880360"/>
            <a:ext cx="6949440" cy="23865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31520" y="5468112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1차(설정 결함·무효) → 2차(수정 후 전건 성공): 오류율 100% → 0.00%, checks 882/882 통과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8001000" y="2697480"/>
            <a:ext cx="3685032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3300000">
              <a:srgbClr val="0B1F3A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8202168" y="2880360"/>
            <a:ext cx="420624" cy="420624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8180" y="2976372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750808" y="2880360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기준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8229600" y="3364992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오류율 5% 이하, p95 응답시간 1000ms 이하이면 Pass로 판정합니다. 1차 실행은 스크립트 설정 결함(vus 10000)으로 테스트 무효 처리 후, vus 3 · duration 10s로 수정해 재실행했습니다.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8001000" y="4553712"/>
            <a:ext cx="3685032" cy="1709928"/>
          </a:xfrm>
          <a:prstGeom prst="roundRect">
            <a:avLst>
              <a:gd name="adj" fmla="val 4813"/>
            </a:avLst>
          </a:prstGeom>
          <a:solidFill>
            <a:srgbClr val="EAF7F1"/>
          </a:solidFill>
          <a:ln/>
          <a:effectLst>
            <a:outerShdw sx="100000" sy="100000" kx="0" ky="0" algn="bl" rotWithShape="0" blurRad="127000" dist="38100" dir="3300000">
              <a:srgbClr val="0B1F3A">
                <a:alpha val="1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202168" y="4736592"/>
            <a:ext cx="420624" cy="420624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8180" y="4832604"/>
            <a:ext cx="228600" cy="2286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750808" y="4736592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성능 개선 의견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8229600" y="521208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87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병목은 서버가 아니라 테스트 스크립트 설정(vus 10000)이었으며, 수정 후 재테스트에서 기준을 크게 상회해 통과. api 모드는 외부 LLM 지연으로 p95 1000ms 초과 가능성 → 캐싱, rule 우선 하이브리드 라우팅, 타임아웃·재시도 정책 적용을 제안합니다.</a:t>
            </a:r>
            <a:endParaRPr lang="en-US" sz="87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결함 및 개선 결과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발견 결함과 조치 후 변화 — Jira(WT4-26~31) 등록 5건 전체 Closed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11228832" y="347472"/>
            <a:ext cx="566928" cy="384048"/>
          </a:xfrm>
          <a:prstGeom prst="roundRect">
            <a:avLst>
              <a:gd name="adj" fmla="val 23810"/>
            </a:avLst>
          </a:prstGeom>
          <a:solidFill>
            <a:srgbClr val="0B1F3A"/>
          </a:solidFill>
          <a:ln/>
        </p:spPr>
      </p:sp>
      <p:sp>
        <p:nvSpPr>
          <p:cNvPr id="5" name="Text 3"/>
          <p:cNvSpPr/>
          <p:nvPr/>
        </p:nvSpPr>
        <p:spPr>
          <a:xfrm>
            <a:off x="11228832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4조  |  AI Agent 품질관리·운영 모니터링 플랫폼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21208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결함 TOP 3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02920" y="1691640"/>
            <a:ext cx="594360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3300000">
              <a:srgbClr val="0B1F3A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85800" y="1837944"/>
            <a:ext cx="1051560" cy="548640"/>
          </a:xfrm>
          <a:prstGeom prst="roundRect">
            <a:avLst>
              <a:gd name="adj" fmla="val 11667"/>
            </a:avLst>
          </a:prstGeom>
          <a:solidFill>
            <a:srgbClr val="DC4A4A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837944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DEF-004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209397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High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874520" y="1783080"/>
            <a:ext cx="4434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k6 부하테스트  —  </a:t>
            </a:r>
            <a:pPr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VUS=10000 오류로 오류율 100%(141,375건 실패) → 수정 후 오류율 0%, p95 4.48ms PASS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2651760"/>
            <a:ext cx="594360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3300000">
              <a:srgbClr val="0B1F3A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85800" y="2798064"/>
            <a:ext cx="1051560" cy="548640"/>
          </a:xfrm>
          <a:prstGeom prst="roundRect">
            <a:avLst>
              <a:gd name="adj" fmla="val 11667"/>
            </a:avLst>
          </a:prstGeom>
          <a:solidFill>
            <a:srgbClr val="DC4A4A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798064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DEF-005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85800" y="305409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High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874520" y="2743200"/>
            <a:ext cx="4434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Docker Compose  —  </a:t>
            </a:r>
            <a:pPr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포트(8000) 충돌로 App 컨테이너 생성 실패, Health Check·Prometheus 연동 실패 → force-recreate 후 정상 복구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611880"/>
            <a:ext cx="594360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3300000">
              <a:srgbClr val="0B1F3A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5800" y="3758184"/>
            <a:ext cx="1051560" cy="548640"/>
          </a:xfrm>
          <a:prstGeom prst="roundRect">
            <a:avLst>
              <a:gd name="adj" fmla="val 11667"/>
            </a:avLst>
          </a:prstGeom>
          <a:solidFill>
            <a:srgbClr val="E8A33D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758184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TC-008~010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85800" y="401421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Med·High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874520" y="3703320"/>
            <a:ext cx="4434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 외 질문  —  </a:t>
            </a:r>
            <a:pPr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Rule Validator 과잉 검증으로 전체 FAIL → 검증 로직 개선 후 정상 판정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67512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전후 비교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6656832" y="1691640"/>
            <a:ext cx="5029200" cy="1170432"/>
          </a:xfrm>
          <a:prstGeom prst="roundRect">
            <a:avLst>
              <a:gd name="adj" fmla="val 7031"/>
            </a:avLst>
          </a:prstGeom>
          <a:solidFill>
            <a:srgbClr val="FDF0F0"/>
          </a:solidFill>
          <a:ln/>
          <a:effectLst>
            <a:outerShdw sx="100000" sy="100000" kx="0" ky="0" algn="bl" rotWithShape="0" blurRad="127000" dist="38100" dir="3300000">
              <a:srgbClr val="0B1F3A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58000" y="1801368"/>
            <a:ext cx="46451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DC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전  </a:t>
            </a:r>
            <a:pPr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k6 VUS=10000 오류로 성능 측정 불가 / Docker 포트 충돌로 FastAPI 접근 실패 / TC-008~010 Rule Validator 전체 FAIL / 모니터링 신뢰성 저하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656832" y="2971800"/>
            <a:ext cx="5029200" cy="1170432"/>
          </a:xfrm>
          <a:prstGeom prst="roundRect">
            <a:avLst>
              <a:gd name="adj" fmla="val 7031"/>
            </a:avLst>
          </a:prstGeom>
          <a:solidFill>
            <a:srgbClr val="FFF7EA"/>
          </a:solidFill>
          <a:ln/>
          <a:effectLst>
            <a:outerShdw sx="100000" sy="100000" kx="0" ky="0" algn="bl" rotWithShape="0" blurRad="127000" dist="38100" dir="3300000">
              <a:srgbClr val="0B1F3A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858000" y="3081528"/>
            <a:ext cx="46451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활동  </a:t>
            </a:r>
            <a:pPr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k6 VUS→3 수정 / Docker Compose 포트 충돌 제거 및 컨테이너 강제 재생성 / Rule Validator 범위 외 질문 검증 로직 개선 / 회귀·성능 테스트 재수행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656832" y="4251960"/>
            <a:ext cx="5029200" cy="1170432"/>
          </a:xfrm>
          <a:prstGeom prst="roundRect">
            <a:avLst>
              <a:gd name="adj" fmla="val 7031"/>
            </a:avLst>
          </a:prstGeom>
          <a:solidFill>
            <a:srgbClr val="EAF7F1"/>
          </a:solidFill>
          <a:ln/>
          <a:effectLst>
            <a:outerShdw sx="100000" sy="100000" kx="0" ky="0" algn="bl" rotWithShape="0" blurRad="127000" dist="38100" dir="3300000">
              <a:srgbClr val="0B1F3A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858000" y="4361688"/>
            <a:ext cx="46451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1FA9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후  </a:t>
            </a:r>
            <a:pPr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오류율 0.00% / 평균 2.97ms / p95 4.48ms / Docker·Health Check 정상 / Prometheus·Grafana 정상 / TC-008~010 결함 관리 완료 / pytest 전체 PASS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02920" y="4709160"/>
            <a:ext cx="5943600" cy="713232"/>
          </a:xfrm>
          <a:prstGeom prst="roundRect">
            <a:avLst>
              <a:gd name="adj" fmla="val 11538"/>
            </a:avLst>
          </a:prstGeom>
          <a:solidFill>
            <a:srgbClr val="0E2748"/>
          </a:solidFill>
          <a:ln/>
          <a:effectLst>
            <a:outerShdw sx="100000" sy="100000" kx="0" ky="0" algn="bl" rotWithShape="0" blurRad="127000" dist="38100" dir="3300000">
              <a:srgbClr val="0B1F3A">
                <a:alpha val="10000"/>
              </a:srgbClr>
            </a:outerShdw>
          </a:effectLst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4919472"/>
            <a:ext cx="274320" cy="27432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188720" y="48006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22D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재테스트  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Jira(WT4-26~31) 등록 5건 전체 Closed — “오류율 0%, Docker 정상, 회귀 PASS” 확인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02920" y="5532120"/>
            <a:ext cx="594360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3300000">
              <a:srgbClr val="0B1F3A">
                <a:alpha val="10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713232" y="56144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Jira 4조 결함목록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713232" y="5888736"/>
            <a:ext cx="768096" cy="292608"/>
          </a:xfrm>
          <a:prstGeom prst="roundRect">
            <a:avLst>
              <a:gd name="adj" fmla="val 18750"/>
            </a:avLst>
          </a:prstGeom>
          <a:solidFill>
            <a:srgbClr val="EAF7F1"/>
          </a:solidFill>
          <a:ln w="9525">
            <a:solidFill>
              <a:srgbClr val="1FA97A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13232" y="5888736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A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WT4-26</a:t>
            </a:r>
            <a:endParaRPr lang="en-US" sz="750" dirty="0"/>
          </a:p>
        </p:txBody>
      </p:sp>
      <p:sp>
        <p:nvSpPr>
          <p:cNvPr id="37" name="Shape 34"/>
          <p:cNvSpPr/>
          <p:nvPr/>
        </p:nvSpPr>
        <p:spPr>
          <a:xfrm>
            <a:off x="1554480" y="5888736"/>
            <a:ext cx="768096" cy="292608"/>
          </a:xfrm>
          <a:prstGeom prst="roundRect">
            <a:avLst>
              <a:gd name="adj" fmla="val 18750"/>
            </a:avLst>
          </a:prstGeom>
          <a:solidFill>
            <a:srgbClr val="EAF7F1"/>
          </a:solidFill>
          <a:ln w="9525">
            <a:solidFill>
              <a:srgbClr val="1FA97A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554480" y="5888736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A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WT4-27</a:t>
            </a:r>
            <a:endParaRPr lang="en-US" sz="750" dirty="0"/>
          </a:p>
        </p:txBody>
      </p:sp>
      <p:sp>
        <p:nvSpPr>
          <p:cNvPr id="39" name="Shape 36"/>
          <p:cNvSpPr/>
          <p:nvPr/>
        </p:nvSpPr>
        <p:spPr>
          <a:xfrm>
            <a:off x="2395728" y="5888736"/>
            <a:ext cx="768096" cy="292608"/>
          </a:xfrm>
          <a:prstGeom prst="roundRect">
            <a:avLst>
              <a:gd name="adj" fmla="val 18750"/>
            </a:avLst>
          </a:prstGeom>
          <a:solidFill>
            <a:srgbClr val="EAF7F1"/>
          </a:solidFill>
          <a:ln w="9525">
            <a:solidFill>
              <a:srgbClr val="1FA97A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2395728" y="5888736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A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WT4-28</a:t>
            </a:r>
            <a:endParaRPr lang="en-US" sz="750" dirty="0"/>
          </a:p>
        </p:txBody>
      </p:sp>
      <p:sp>
        <p:nvSpPr>
          <p:cNvPr id="41" name="Shape 38"/>
          <p:cNvSpPr/>
          <p:nvPr/>
        </p:nvSpPr>
        <p:spPr>
          <a:xfrm>
            <a:off x="3236976" y="5888736"/>
            <a:ext cx="768096" cy="292608"/>
          </a:xfrm>
          <a:prstGeom prst="roundRect">
            <a:avLst>
              <a:gd name="adj" fmla="val 18750"/>
            </a:avLst>
          </a:prstGeom>
          <a:solidFill>
            <a:srgbClr val="EAF7F1"/>
          </a:solidFill>
          <a:ln w="9525">
            <a:solidFill>
              <a:srgbClr val="1FA97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3236976" y="5888736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A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WT4-29</a:t>
            </a:r>
            <a:endParaRPr lang="en-US" sz="750" dirty="0"/>
          </a:p>
        </p:txBody>
      </p:sp>
      <p:sp>
        <p:nvSpPr>
          <p:cNvPr id="43" name="Shape 40"/>
          <p:cNvSpPr/>
          <p:nvPr/>
        </p:nvSpPr>
        <p:spPr>
          <a:xfrm>
            <a:off x="4078224" y="5888736"/>
            <a:ext cx="768096" cy="292608"/>
          </a:xfrm>
          <a:prstGeom prst="roundRect">
            <a:avLst>
              <a:gd name="adj" fmla="val 18750"/>
            </a:avLst>
          </a:prstGeom>
          <a:solidFill>
            <a:srgbClr val="EAF7F1"/>
          </a:solidFill>
          <a:ln w="9525">
            <a:solidFill>
              <a:srgbClr val="1FA97A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4078224" y="5888736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A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WT4-30</a:t>
            </a:r>
            <a:endParaRPr lang="en-US" sz="750" dirty="0"/>
          </a:p>
        </p:txBody>
      </p:sp>
      <p:sp>
        <p:nvSpPr>
          <p:cNvPr id="45" name="Shape 42"/>
          <p:cNvSpPr/>
          <p:nvPr/>
        </p:nvSpPr>
        <p:spPr>
          <a:xfrm>
            <a:off x="4919472" y="5888736"/>
            <a:ext cx="768096" cy="292608"/>
          </a:xfrm>
          <a:prstGeom prst="roundRect">
            <a:avLst>
              <a:gd name="adj" fmla="val 18750"/>
            </a:avLst>
          </a:prstGeom>
          <a:solidFill>
            <a:srgbClr val="EAF7F1"/>
          </a:solidFill>
          <a:ln w="9525">
            <a:solidFill>
              <a:srgbClr val="1FA97A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4919472" y="5888736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A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WT4-31</a:t>
            </a:r>
            <a:endParaRPr lang="en-US" sz="750" dirty="0"/>
          </a:p>
        </p:txBody>
      </p:sp>
      <p:sp>
        <p:nvSpPr>
          <p:cNvPr id="47" name="Text 44"/>
          <p:cNvSpPr/>
          <p:nvPr/>
        </p:nvSpPr>
        <p:spPr>
          <a:xfrm>
            <a:off x="5577840" y="588873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A9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전건 Closed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최종 품질 판정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가능 여부와 팀 의견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11228832" y="347472"/>
            <a:ext cx="566928" cy="384048"/>
          </a:xfrm>
          <a:prstGeom prst="roundRect">
            <a:avLst>
              <a:gd name="adj" fmla="val 23810"/>
            </a:avLst>
          </a:prstGeom>
          <a:solidFill>
            <a:srgbClr val="0B1F3A"/>
          </a:solidFill>
          <a:ln/>
        </p:spPr>
      </p:sp>
      <p:sp>
        <p:nvSpPr>
          <p:cNvPr id="5" name="Text 3"/>
          <p:cNvSpPr/>
          <p:nvPr/>
        </p:nvSpPr>
        <p:spPr>
          <a:xfrm>
            <a:off x="11228832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4조  |  AI Agent 품질관리·운영 모니터링 플랫폼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325880"/>
            <a:ext cx="3977640" cy="3017520"/>
          </a:xfrm>
          <a:prstGeom prst="roundRect">
            <a:avLst>
              <a:gd name="adj" fmla="val 2727"/>
            </a:avLst>
          </a:prstGeom>
          <a:solidFill>
            <a:srgbClr val="0E2748"/>
          </a:solidFill>
          <a:ln/>
          <a:effectLst>
            <a:outerShdw sx="100000" sy="100000" kx="0" ky="0" algn="bl" rotWithShape="0" blurRad="127000" dist="38100" dir="3300000">
              <a:srgbClr val="0B1F3A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14813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VERDICT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7240" y="1874520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1A3A63"/>
          </a:solidFill>
          <a:ln w="12700">
            <a:solidFill>
              <a:srgbClr val="2A4E7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34440" y="184708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E97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가능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77240" y="244144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" y="2473452"/>
            <a:ext cx="246888" cy="24688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234440" y="241401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조건부 가능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77240" y="3008376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1A3A63"/>
          </a:solidFill>
          <a:ln w="12700">
            <a:solidFill>
              <a:srgbClr val="2A4E7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34440" y="298094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E97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필요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777240" y="361188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rule 모드 기준 충족,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모드는 정책 확정 후 확대</a:t>
            </a:r>
            <a:endParaRPr lang="en-US" sz="950" dirty="0"/>
          </a:p>
        </p:txBody>
      </p:sp>
      <p:pic>
        <p:nvPicPr>
          <p:cNvPr id="17" name="Image 1" descr="character_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240" y="3035808"/>
            <a:ext cx="1261872" cy="1261872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663440" y="1325880"/>
            <a:ext cx="3703320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3300000">
              <a:srgbClr val="0B1F3A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864608" y="1508760"/>
            <a:ext cx="420624" cy="420624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0620" y="1604772"/>
            <a:ext cx="228600" cy="2286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413248" y="1508760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근거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4937760" y="2057400"/>
            <a:ext cx="3246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93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테스트: pytest 25건 전체 PASS · 품질 파이프라인 rule 7/7 PASS</a:t>
            </a:r>
            <a:endParaRPr lang="en-US" sz="930" dirty="0"/>
          </a:p>
          <a:p>
            <a:pPr marL="127000" indent="-1270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93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모니터링: /metrics 노출 · Prometheus 수집 · Grafana 실시간 관측</a:t>
            </a:r>
            <a:endParaRPr lang="en-US" sz="930" dirty="0"/>
          </a:p>
          <a:p>
            <a:pPr marL="127000" indent="-1270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93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성능 테스트: k6 오류율 0.00% · p95 2.3ms (기준 충족)</a:t>
            </a:r>
            <a:endParaRPr lang="en-US" sz="930" dirty="0"/>
          </a:p>
          <a:p>
            <a:pPr marL="127000" indent="-1270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93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결함 조치: DEF-001~005 전건 Closed (회귀 방지 테스트 승계)</a:t>
            </a:r>
            <a:endParaRPr lang="en-US" sz="930" dirty="0"/>
          </a:p>
        </p:txBody>
      </p:sp>
      <p:sp>
        <p:nvSpPr>
          <p:cNvPr id="23" name="Shape 18"/>
          <p:cNvSpPr/>
          <p:nvPr/>
        </p:nvSpPr>
        <p:spPr>
          <a:xfrm>
            <a:off x="8549640" y="1325880"/>
            <a:ext cx="3136392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3300000">
              <a:srgbClr val="0B1F3A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8750808" y="1508760"/>
            <a:ext cx="420624" cy="420624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6820" y="1604772"/>
            <a:ext cx="228600" cy="2286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299448" y="1508760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과제</a:t>
            </a:r>
            <a:endParaRPr lang="en-US" sz="1450" dirty="0"/>
          </a:p>
        </p:txBody>
      </p:sp>
      <p:sp>
        <p:nvSpPr>
          <p:cNvPr id="27" name="Shape 21"/>
          <p:cNvSpPr/>
          <p:nvPr/>
        </p:nvSpPr>
        <p:spPr>
          <a:xfrm>
            <a:off x="8778240" y="2103120"/>
            <a:ext cx="274320" cy="2743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8" name="Text 22"/>
          <p:cNvSpPr/>
          <p:nvPr/>
        </p:nvSpPr>
        <p:spPr>
          <a:xfrm>
            <a:off x="8778240" y="2103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9144000" y="2039112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Rule 지식 확장 + RAG 연동으로 커버리지 확대 (API 의존·비용 절감)</a:t>
            </a:r>
            <a:endParaRPr lang="en-US" sz="860" dirty="0"/>
          </a:p>
        </p:txBody>
      </p:sp>
      <p:sp>
        <p:nvSpPr>
          <p:cNvPr id="30" name="Shape 24"/>
          <p:cNvSpPr/>
          <p:nvPr/>
        </p:nvSpPr>
        <p:spPr>
          <a:xfrm>
            <a:off x="8778240" y="2816352"/>
            <a:ext cx="274320" cy="2743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31" name="Text 25"/>
          <p:cNvSpPr/>
          <p:nvPr/>
        </p:nvSpPr>
        <p:spPr>
          <a:xfrm>
            <a:off x="8778240" y="28163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9144000" y="2752344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Golden Answer 이중 검증으로 Judge 오평가 완충</a:t>
            </a:r>
            <a:endParaRPr lang="en-US" sz="860" dirty="0"/>
          </a:p>
        </p:txBody>
      </p:sp>
      <p:sp>
        <p:nvSpPr>
          <p:cNvPr id="33" name="Shape 27"/>
          <p:cNvSpPr/>
          <p:nvPr/>
        </p:nvSpPr>
        <p:spPr>
          <a:xfrm>
            <a:off x="8778240" y="3529584"/>
            <a:ext cx="274320" cy="2743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34" name="Text 28"/>
          <p:cNvSpPr/>
          <p:nvPr/>
        </p:nvSpPr>
        <p:spPr>
          <a:xfrm>
            <a:off x="8778240" y="35295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9144000" y="3465576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로그 시계열 적재 → 전일 대비 품질 변화 자동 리포트 (LLMOps)</a:t>
            </a:r>
            <a:endParaRPr lang="en-US" sz="860" dirty="0"/>
          </a:p>
        </p:txBody>
      </p:sp>
      <p:sp>
        <p:nvSpPr>
          <p:cNvPr id="36" name="Shape 30"/>
          <p:cNvSpPr/>
          <p:nvPr/>
        </p:nvSpPr>
        <p:spPr>
          <a:xfrm>
            <a:off x="502920" y="4526280"/>
            <a:ext cx="11183112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3300000">
              <a:srgbClr val="0B1F3A">
                <a:alpha val="10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704088" y="4709160"/>
            <a:ext cx="420624" cy="420624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4805172"/>
            <a:ext cx="228600" cy="22860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1252728" y="4709160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회고</a:t>
            </a:r>
            <a:endParaRPr lang="en-US" sz="1450" dirty="0"/>
          </a:p>
        </p:txBody>
      </p:sp>
      <p:sp>
        <p:nvSpPr>
          <p:cNvPr id="40" name="Text 33"/>
          <p:cNvSpPr/>
          <p:nvPr/>
        </p:nvSpPr>
        <p:spPr>
          <a:xfrm>
            <a:off x="777240" y="5230368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FastAPI·Prometheus·Grafana·k6 등 다양한 QA 도구를 직접 경험하며 모니터링과 실시간 시각화의 중요성을 배웠습니다. </a:t>
            </a:r>
            <a:pPr indent="0" marL="0">
              <a:lnSpc>
                <a:spcPct val="125000"/>
              </a:lnSpc>
              <a:buNone/>
            </a:pPr>
            <a:r>
              <a:rPr lang="en-US" sz="96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테스트가 모두 PASS여도 서비스 품질이 보장되는 것은 아니며</a:t>
            </a:r>
            <a:pPr indent="0" marL="0">
              <a:lnSpc>
                <a:spcPct val="125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성능 테스트와 운영 환경까지 함께 검증해야 실제 운영 가능 여부를 판단할 수 있음을 경험했습니다. k6 VUS 설정 오류를 해결하며 </a:t>
            </a:r>
            <a:pPr indent="0" marL="0">
              <a:lnSpc>
                <a:spcPct val="125000"/>
              </a:lnSpc>
              <a:buNone/>
            </a:pPr>
            <a:r>
              <a:rPr lang="en-US" sz="96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도구와 실행 환경도 검증 대상</a:t>
            </a:r>
            <a:pPr indent="0" marL="0">
              <a:lnSpc>
                <a:spcPct val="125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이라는 점, 로그뿐 아니라 포트 매핑·Health Check·모니터링 지표를 함께 확인하는 습관의 중요성을 느꼈습니다. 기능 테스트부터 성능·모니터링·결함 관리까지 QA 전 과정을 직접 경험했으며, 새로운 도구를 배우는 과정이 쉽지는 않았지만 매우 의미 있는 프로젝트였습니다. 앞으로도 객관적인 데이터를 기반으로 문제를 분석하고 품질을 개선하는 QA 엔지니어로 성장하고자 합니다.</a:t>
            </a:r>
            <a:endParaRPr lang="en-US" sz="9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 품질관리·운영 모니터링 플랫폼</dc:title>
  <dc:subject>PptxGenJS Presentation</dc:subject>
  <dc:creator>4조</dc:creator>
  <cp:lastModifiedBy>4조</cp:lastModifiedBy>
  <cp:revision>1</cp:revision>
  <dcterms:created xsi:type="dcterms:W3CDTF">2026-07-09T07:11:15Z</dcterms:created>
  <dcterms:modified xsi:type="dcterms:W3CDTF">2026-07-09T07:11:15Z</dcterms:modified>
</cp:coreProperties>
</file>