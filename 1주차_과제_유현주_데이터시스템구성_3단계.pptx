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53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7028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87168" cy="68580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457200"/>
            <a:ext cx="1920240" cy="1920240"/>
          </a:xfrm>
          <a:prstGeom prst="ellipse">
            <a:avLst/>
          </a:prstGeom>
          <a:solidFill>
            <a:srgbClr val="1C7293">
              <a:alpha val="20000"/>
            </a:srgbClr>
          </a:solidFill>
          <a:ln w="12700">
            <a:solidFill>
              <a:srgbClr val="1C7293">
                <a:alpha val="28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82880" y="13716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91440" y="822960"/>
            <a:ext cx="23042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dirty="0">
                <a:solidFill>
                  <a:srgbClr val="000000"/>
                </a:solidFill>
              </a:rPr>
              <a:t>🏛</a:t>
            </a:r>
            <a:endParaRPr lang="en-US" sz="5000" dirty="0"/>
          </a:p>
        </p:txBody>
      </p:sp>
      <p:sp>
        <p:nvSpPr>
          <p:cNvPr id="6" name="Text 4"/>
          <p:cNvSpPr txBox="1"/>
          <p:nvPr/>
        </p:nvSpPr>
        <p:spPr>
          <a:xfrm>
            <a:off x="146304" y="1920240"/>
            <a:ext cx="22128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데이터웨어하우스</a:t>
            </a:r>
            <a:endParaRPr lang="en-US" sz="18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6304" y="3401568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정형 데이터 중심</a:t>
            </a:r>
            <a:endParaRPr lang="en-US" sz="1050" dirty="0"/>
          </a:p>
          <a:p>
            <a:pPr marL="0" indent="0" algn="l">
              <a:buNone/>
            </a:pPr>
            <a:r>
              <a:rPr lang="en-US" sz="10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통합 분석 플랫폼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46304" y="4389120"/>
            <a:ext cx="2194560" cy="402336"/>
          </a:xfrm>
          <a:prstGeom prst="roundRect">
            <a:avLst>
              <a:gd name="adj" fmla="val 15909"/>
            </a:avLst>
          </a:prstGeom>
          <a:solidFill>
            <a:srgbClr val="1C7293">
              <a:alpha val="75000"/>
            </a:srgbClr>
          </a:solidFill>
          <a:ln w="12700">
            <a:solidFill>
              <a:srgbClr val="1C7293">
                <a:alpha val="8000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46304" y="43891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규모: 테라바이트 (TB)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46304" y="4864608"/>
            <a:ext cx="2194560" cy="402336"/>
          </a:xfrm>
          <a:prstGeom prst="roundRect">
            <a:avLst>
              <a:gd name="adj" fmla="val 15909"/>
            </a:avLst>
          </a:prstGeom>
          <a:solidFill>
            <a:srgbClr val="1C4E80">
              <a:alpha val="65000"/>
            </a:srgbClr>
          </a:solidFill>
          <a:ln w="12700">
            <a:solidFill>
              <a:srgbClr val="1C4E80">
                <a:alpha val="8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46304" y="486460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on Write  ·  ETL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487168" y="0"/>
            <a:ext cx="9674352" cy="6858000"/>
          </a:xfrm>
          <a:prstGeom prst="rect">
            <a:avLst/>
          </a:prstGeom>
          <a:solidFill>
            <a:srgbClr val="F2F7FC"/>
          </a:solidFill>
          <a:ln w="12700">
            <a:solidFill>
              <a:srgbClr val="F2F7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51760" y="256032"/>
            <a:ext cx="3410346" cy="347472"/>
          </a:xfrm>
          <a:prstGeom prst="roundRect">
            <a:avLst>
              <a:gd name="adj" fmla="val 15789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743200" y="256032"/>
            <a:ext cx="331890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특징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2651760" y="667512"/>
            <a:ext cx="3410346" cy="6099048"/>
          </a:xfrm>
          <a:prstGeom prst="rect">
            <a:avLst/>
          </a:prstGeom>
          <a:noFill/>
          <a:ln/>
        </p:spPr>
        <p:txBody>
          <a:bodyPr wrap="square" lIns="635" tIns="1016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여러 시스템 데이터를 공통 형식으로 변환·통합 관리</a:t>
            </a:r>
            <a:endParaRPr lang="en-US" sz="1100" dirty="0"/>
          </a:p>
          <a:p>
            <a:pPr marL="0" indent="0" algn="l">
              <a:spcAft>
                <a:spcPts val="500"/>
              </a:spcAft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내부 정형(Structured) 데이터 중심으로 구성</a:t>
            </a:r>
            <a:endParaRPr lang="en-US" sz="1100" dirty="0"/>
          </a:p>
          <a:p>
            <a:pPr marL="0" indent="0" algn="l">
              <a:spcAft>
                <a:spcPts val="500"/>
              </a:spcAft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ETL(추출·변환·적재) 과정으로 데이터 정제 후 저장</a:t>
            </a:r>
            <a:endParaRPr lang="en-US" sz="1100" dirty="0"/>
          </a:p>
          <a:p>
            <a:pPr marL="0" indent="0" algn="l">
              <a:spcAft>
                <a:spcPts val="500"/>
              </a:spcAft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리포트, 대시보드, OLAP 분석 및 의사결정 지원 활용</a:t>
            </a:r>
            <a:endParaRPr lang="en-US" sz="1100" dirty="0"/>
          </a:p>
          <a:p>
            <a:pPr marL="0" indent="0" algn="l">
              <a:spcAft>
                <a:spcPts val="500"/>
              </a:spcAft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사전 정의된 구조에 맞게 처리하는 Schema on Write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274" y="256032"/>
            <a:ext cx="5605638" cy="347472"/>
          </a:xfrm>
          <a:prstGeom prst="roundRect">
            <a:avLst>
              <a:gd name="adj" fmla="val 15789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54714" y="256032"/>
            <a:ext cx="55141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✚  장점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63274" y="658368"/>
            <a:ext cx="5605638" cy="2487168"/>
          </a:xfrm>
          <a:prstGeom prst="roundRect">
            <a:avLst>
              <a:gd name="adj" fmla="val 2941"/>
            </a:avLst>
          </a:prstGeom>
          <a:solidFill>
            <a:srgbClr val="E6FBF5"/>
          </a:solidFill>
          <a:ln w="12700">
            <a:solidFill>
              <a:srgbClr val="02C39A">
                <a:alpha val="40000"/>
              </a:srgbClr>
            </a:solidFill>
            <a:prstDash val="solid"/>
          </a:ln>
          <a:effectLst>
            <a:outerShdw blurRad="50800" dist="25400" dir="8100000" algn="bl" rotWithShape="0">
              <a:srgbClr val="BBBBBB">
                <a:alpha val="2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391290" y="731520"/>
            <a:ext cx="534960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10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여러 소스의 데이터를 통합하여 교차 분석 가능</a:t>
            </a:r>
            <a:endParaRPr lang="en-US" sz="1100" dirty="0"/>
          </a:p>
          <a:p>
            <a:pPr marL="0" indent="0" algn="l">
              <a:spcAft>
                <a:spcPts val="500"/>
              </a:spcAft>
              <a:buNone/>
            </a:pPr>
            <a:r>
              <a:rPr lang="en-US" sz="110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정제·일관된 데이터 기반으로 신뢰성 있는 분석</a:t>
            </a:r>
            <a:endParaRPr lang="en-US" sz="1100" dirty="0"/>
          </a:p>
          <a:p>
            <a:pPr marL="0" indent="0" algn="l">
              <a:spcAft>
                <a:spcPts val="500"/>
              </a:spcAft>
              <a:buNone/>
            </a:pPr>
            <a:r>
              <a:rPr lang="en-US" sz="110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과거 데이터 활용 분석 및 경영 의사결정에 효과적</a:t>
            </a:r>
            <a:endParaRPr lang="en-US" sz="1100" dirty="0"/>
          </a:p>
          <a:p>
            <a:pPr marL="0" indent="0" algn="l">
              <a:spcAft>
                <a:spcPts val="500"/>
              </a:spcAft>
              <a:buNone/>
            </a:pPr>
            <a:r>
              <a:rPr lang="en-US" sz="110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리포트·대시보드 등 정형화된 분석에 최적화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63274" y="3310128"/>
            <a:ext cx="5605638" cy="347472"/>
          </a:xfrm>
          <a:prstGeom prst="roundRect">
            <a:avLst>
              <a:gd name="adj" fmla="val 15789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54714" y="3310128"/>
            <a:ext cx="55141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단점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63274" y="3712464"/>
            <a:ext cx="5605638" cy="3090672"/>
          </a:xfrm>
          <a:prstGeom prst="roundRect">
            <a:avLst>
              <a:gd name="adj" fmla="val 2367"/>
            </a:avLst>
          </a:prstGeom>
          <a:solidFill>
            <a:srgbClr val="FEF0F0"/>
          </a:solidFill>
          <a:ln w="12700">
            <a:solidFill>
              <a:srgbClr val="E85D5D">
                <a:alpha val="40000"/>
              </a:srgbClr>
            </a:solidFill>
            <a:prstDash val="solid"/>
          </a:ln>
          <a:effectLst>
            <a:outerShdw blurRad="50800" dist="25400" dir="8100000" algn="bl" rotWithShape="0">
              <a:srgbClr val="BBBBBB">
                <a:alpha val="2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391290" y="3785616"/>
            <a:ext cx="534960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100" dirty="0">
                <a:solidFill>
                  <a:srgbClr val="7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저장 전 정해진 구조에 맞춰 변환·정제가 필요</a:t>
            </a:r>
            <a:endParaRPr lang="en-US" sz="1100" dirty="0"/>
          </a:p>
          <a:p>
            <a:pPr marL="0" indent="0" algn="l">
              <a:spcAft>
                <a:spcPts val="500"/>
              </a:spcAft>
              <a:buNone/>
            </a:pPr>
            <a:r>
              <a:rPr lang="en-US" sz="1100" dirty="0">
                <a:solidFill>
                  <a:srgbClr val="7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정형 데이터 중심이므로 비정형 데이터 처리에 한계</a:t>
            </a:r>
            <a:endParaRPr lang="en-US" sz="1100" dirty="0"/>
          </a:p>
          <a:p>
            <a:pPr marL="0" indent="0" algn="l">
              <a:spcAft>
                <a:spcPts val="500"/>
              </a:spcAft>
              <a:buNone/>
            </a:pPr>
            <a:r>
              <a:rPr lang="en-US" sz="1100" dirty="0">
                <a:solidFill>
                  <a:srgbClr val="7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대규모 구축 및 ETL 과정에 높은 비용·시간 소요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87168" cy="68580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457200"/>
            <a:ext cx="1920240" cy="192024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8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82880" y="13716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91440" y="822960"/>
            <a:ext cx="23042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dirty="0">
                <a:solidFill>
                  <a:srgbClr val="000000"/>
                </a:solidFill>
              </a:rPr>
              <a:t>🌊</a:t>
            </a:r>
            <a:endParaRPr lang="en-US" sz="5000" dirty="0"/>
          </a:p>
        </p:txBody>
      </p:sp>
      <p:sp>
        <p:nvSpPr>
          <p:cNvPr id="6" name="Text 4"/>
          <p:cNvSpPr txBox="1"/>
          <p:nvPr/>
        </p:nvSpPr>
        <p:spPr>
          <a:xfrm>
            <a:off x="146304" y="1920240"/>
            <a:ext cx="22128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레이크</a:t>
            </a:r>
            <a:endParaRPr lang="en-US" sz="18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6304" y="3401568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원본 형식 그대로</a:t>
            </a:r>
            <a:endParaRPr lang="en-US" sz="1050" dirty="0"/>
          </a:p>
          <a:p>
            <a:pPr marL="0" indent="0" algn="l">
              <a:buNone/>
            </a:pPr>
            <a:r>
              <a:rPr lang="en-US" sz="10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대용량 중앙 저장소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46304" y="4389120"/>
            <a:ext cx="2194560" cy="402336"/>
          </a:xfrm>
          <a:prstGeom prst="roundRect">
            <a:avLst>
              <a:gd name="adj" fmla="val 15909"/>
            </a:avLst>
          </a:prstGeom>
          <a:solidFill>
            <a:srgbClr val="028090">
              <a:alpha val="75000"/>
            </a:srgbClr>
          </a:solidFill>
          <a:ln w="12700">
            <a:solidFill>
              <a:srgbClr val="028090">
                <a:alpha val="8000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46304" y="43891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규모: 페타바이트 (PB)+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46304" y="4864608"/>
            <a:ext cx="2194560" cy="402336"/>
          </a:xfrm>
          <a:prstGeom prst="roundRect">
            <a:avLst>
              <a:gd name="adj" fmla="val 15909"/>
            </a:avLst>
          </a:prstGeom>
          <a:solidFill>
            <a:srgbClr val="1C4E80">
              <a:alpha val="65000"/>
            </a:srgbClr>
          </a:solidFill>
          <a:ln w="12700">
            <a:solidFill>
              <a:srgbClr val="1C4E80">
                <a:alpha val="8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46304" y="486460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on Read  ·  Hadoop / NoSQL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487168" y="0"/>
            <a:ext cx="9674352" cy="6858000"/>
          </a:xfrm>
          <a:prstGeom prst="rect">
            <a:avLst/>
          </a:prstGeom>
          <a:solidFill>
            <a:srgbClr val="F2F7FC"/>
          </a:solidFill>
          <a:ln w="12700">
            <a:solidFill>
              <a:srgbClr val="F2F7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51760" y="256032"/>
            <a:ext cx="3410346" cy="347472"/>
          </a:xfrm>
          <a:prstGeom prst="roundRect">
            <a:avLst>
              <a:gd name="adj" fmla="val 15789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743200" y="256032"/>
            <a:ext cx="331890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특징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2651760" y="667512"/>
            <a:ext cx="3410346" cy="6099048"/>
          </a:xfrm>
          <a:prstGeom prst="rect">
            <a:avLst/>
          </a:prstGeom>
          <a:noFill/>
          <a:ln/>
        </p:spPr>
        <p:txBody>
          <a:bodyPr wrap="square" lIns="635" tIns="1016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데이터 단절 문제를 해결하는 중앙 데이터 저장소</a:t>
            </a:r>
            <a:endParaRPr lang="en-US" sz="1100" dirty="0"/>
          </a:p>
          <a:p>
            <a:pPr marL="0" indent="0" algn="l">
              <a:spcAft>
                <a:spcPts val="500"/>
              </a:spcAft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정형·반정형·비정형 데이터를 원본 형식 그대로 저장</a:t>
            </a:r>
            <a:endParaRPr lang="en-US" sz="1100" dirty="0"/>
          </a:p>
          <a:p>
            <a:pPr marL="0" indent="0" algn="l">
              <a:spcAft>
                <a:spcPts val="500"/>
              </a:spcAft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사용 시 구조를 정의하는 Schema on Read 방식</a:t>
            </a:r>
            <a:endParaRPr lang="en-US" sz="1100" dirty="0"/>
          </a:p>
          <a:p>
            <a:pPr marL="0" indent="0" algn="l">
              <a:spcAft>
                <a:spcPts val="500"/>
              </a:spcAft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Hadoop, NoSQL 등의 빅데이터 기술과 함께 활용</a:t>
            </a:r>
            <a:endParaRPr lang="en-US" sz="1100" dirty="0"/>
          </a:p>
          <a:p>
            <a:pPr marL="0" indent="0" algn="l">
              <a:spcAft>
                <a:spcPts val="500"/>
              </a:spcAft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머신러닝·딥러닝·데이터 시각화 등 다양한 분석 지원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274" y="256032"/>
            <a:ext cx="5605638" cy="347472"/>
          </a:xfrm>
          <a:prstGeom prst="roundRect">
            <a:avLst>
              <a:gd name="adj" fmla="val 15789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54714" y="256032"/>
            <a:ext cx="55141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✚  장점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63274" y="658368"/>
            <a:ext cx="5605638" cy="2487168"/>
          </a:xfrm>
          <a:prstGeom prst="roundRect">
            <a:avLst>
              <a:gd name="adj" fmla="val 2941"/>
            </a:avLst>
          </a:prstGeom>
          <a:solidFill>
            <a:srgbClr val="E6FBF5"/>
          </a:solidFill>
          <a:ln w="12700">
            <a:solidFill>
              <a:srgbClr val="02C39A">
                <a:alpha val="40000"/>
              </a:srgbClr>
            </a:solidFill>
            <a:prstDash val="solid"/>
          </a:ln>
          <a:effectLst>
            <a:outerShdw blurRad="50800" dist="25400" dir="8100000" algn="bl" rotWithShape="0">
              <a:srgbClr val="BBBBBB">
                <a:alpha val="2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391290" y="731520"/>
            <a:ext cx="534960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10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모든 형태의 데이터를 원본 그대로 저장 가능</a:t>
            </a:r>
            <a:endParaRPr lang="en-US" sz="1100" dirty="0"/>
          </a:p>
          <a:p>
            <a:pPr marL="0" indent="0" algn="l">
              <a:spcAft>
                <a:spcPts val="500"/>
              </a:spcAft>
              <a:buNone/>
            </a:pPr>
            <a:r>
              <a:rPr lang="en-US" sz="110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대용량 데이터를 유연하게 저장·확장할 수 있음</a:t>
            </a:r>
            <a:endParaRPr lang="en-US" sz="1100" dirty="0"/>
          </a:p>
          <a:p>
            <a:pPr marL="0" indent="0" algn="l">
              <a:spcAft>
                <a:spcPts val="500"/>
              </a:spcAft>
              <a:buNone/>
            </a:pPr>
            <a:r>
              <a:rPr lang="en-US" sz="110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클라우드 환경에서 비용 효율적 &amp; 오토 스케일링</a:t>
            </a:r>
            <a:endParaRPr lang="en-US" sz="1100" dirty="0"/>
          </a:p>
          <a:p>
            <a:pPr marL="0" indent="0" algn="l">
              <a:spcAft>
                <a:spcPts val="500"/>
              </a:spcAft>
              <a:buNone/>
            </a:pPr>
            <a:r>
              <a:rPr lang="en-US" sz="110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ML·DL 등 다양한 분석과 새로운 인사이트 도출에 유리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63274" y="3310128"/>
            <a:ext cx="5605638" cy="347472"/>
          </a:xfrm>
          <a:prstGeom prst="roundRect">
            <a:avLst>
              <a:gd name="adj" fmla="val 15789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54714" y="3310128"/>
            <a:ext cx="55141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단점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63274" y="3712464"/>
            <a:ext cx="5605638" cy="3090672"/>
          </a:xfrm>
          <a:prstGeom prst="roundRect">
            <a:avLst>
              <a:gd name="adj" fmla="val 2367"/>
            </a:avLst>
          </a:prstGeom>
          <a:solidFill>
            <a:srgbClr val="FEF0F0"/>
          </a:solidFill>
          <a:ln w="12700">
            <a:solidFill>
              <a:srgbClr val="E85D5D">
                <a:alpha val="40000"/>
              </a:srgbClr>
            </a:solidFill>
            <a:prstDash val="solid"/>
          </a:ln>
          <a:effectLst>
            <a:outerShdw blurRad="50800" dist="25400" dir="8100000" algn="bl" rotWithShape="0">
              <a:srgbClr val="BBBBBB">
                <a:alpha val="2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391290" y="3785616"/>
            <a:ext cx="534960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100" dirty="0">
                <a:solidFill>
                  <a:srgbClr val="7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관리 부실 시 데이터 늪(Data Swamp)이 될 수 있음</a:t>
            </a:r>
            <a:endParaRPr lang="en-US" sz="1100" dirty="0"/>
          </a:p>
          <a:p>
            <a:pPr marL="0" indent="0" algn="l">
              <a:spcAft>
                <a:spcPts val="500"/>
              </a:spcAft>
              <a:buNone/>
            </a:pPr>
            <a:r>
              <a:rPr lang="en-US" sz="1100" dirty="0">
                <a:solidFill>
                  <a:srgbClr val="7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원본 데이터 방대로 품질 및 관리가 어려움</a:t>
            </a:r>
            <a:endParaRPr lang="en-US" sz="1100" dirty="0"/>
          </a:p>
          <a:p>
            <a:pPr marL="0" indent="0" algn="l">
              <a:spcAft>
                <a:spcPts val="500"/>
              </a:spcAft>
              <a:buNone/>
            </a:pPr>
            <a:r>
              <a:rPr lang="en-US" sz="1100" dirty="0">
                <a:solidFill>
                  <a:srgbClr val="7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데이터 활용을 위해 전문 관리 역량이 필요</a:t>
            </a:r>
            <a:endParaRPr lang="en-US" sz="1100" dirty="0"/>
          </a:p>
          <a:p>
            <a:pPr marL="0" indent="0" algn="l">
              <a:spcAft>
                <a:spcPts val="500"/>
              </a:spcAft>
              <a:buNone/>
            </a:pPr>
            <a:r>
              <a:rPr lang="en-US" sz="1100" dirty="0">
                <a:solidFill>
                  <a:srgbClr val="7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멀티클라우드 환경의 시스템 연계에 높은 전문성 요구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87168" cy="68580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457200"/>
            <a:ext cx="1920240" cy="1920240"/>
          </a:xfrm>
          <a:prstGeom prst="ellipse">
            <a:avLst/>
          </a:prstGeom>
          <a:solidFill>
            <a:srgbClr val="5C3BC2">
              <a:alpha val="20000"/>
            </a:srgbClr>
          </a:solidFill>
          <a:ln w="12700">
            <a:solidFill>
              <a:srgbClr val="5C3BC2">
                <a:alpha val="28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82880" y="13716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5C3B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91440" y="822960"/>
            <a:ext cx="23042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dirty="0">
                <a:solidFill>
                  <a:srgbClr val="000000"/>
                </a:solidFill>
              </a:rPr>
              <a:t>🕸</a:t>
            </a:r>
            <a:endParaRPr lang="en-US" sz="5000" dirty="0"/>
          </a:p>
        </p:txBody>
      </p:sp>
      <p:sp>
        <p:nvSpPr>
          <p:cNvPr id="6" name="Text 4"/>
          <p:cNvSpPr txBox="1"/>
          <p:nvPr/>
        </p:nvSpPr>
        <p:spPr>
          <a:xfrm>
            <a:off x="146304" y="1920240"/>
            <a:ext cx="22128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빅데이터 패브릭</a:t>
            </a:r>
            <a:endParaRPr lang="en-US" sz="18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Fabric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6304" y="3401568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 + Data Lake</a:t>
            </a:r>
            <a:endParaRPr lang="en-US" sz="1050" dirty="0"/>
          </a:p>
          <a:p>
            <a:pPr marL="0" indent="0" algn="l">
              <a:buNone/>
            </a:pPr>
            <a:r>
              <a:rPr lang="en-US" sz="10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통합 환경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46304" y="4389120"/>
            <a:ext cx="2194560" cy="402336"/>
          </a:xfrm>
          <a:prstGeom prst="roundRect">
            <a:avLst>
              <a:gd name="adj" fmla="val 15909"/>
            </a:avLst>
          </a:prstGeom>
          <a:solidFill>
            <a:srgbClr val="5C3BC2">
              <a:alpha val="75000"/>
            </a:srgbClr>
          </a:solidFill>
          <a:ln w="12700">
            <a:solidFill>
              <a:srgbClr val="5C3BC2">
                <a:alpha val="8000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46304" y="43891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분산 → 통합 실시간 접근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46304" y="4864608"/>
            <a:ext cx="2194560" cy="402336"/>
          </a:xfrm>
          <a:prstGeom prst="roundRect">
            <a:avLst>
              <a:gd name="adj" fmla="val 15909"/>
            </a:avLst>
          </a:prstGeom>
          <a:solidFill>
            <a:srgbClr val="1C4E80">
              <a:alpha val="65000"/>
            </a:srgbClr>
          </a:solidFill>
          <a:ln w="12700">
            <a:solidFill>
              <a:srgbClr val="1C4E80">
                <a:alpha val="8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46304" y="486460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거버넌스  ·  가상화  ·  보안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487168" y="0"/>
            <a:ext cx="9674352" cy="6858000"/>
          </a:xfrm>
          <a:prstGeom prst="rect">
            <a:avLst/>
          </a:prstGeom>
          <a:solidFill>
            <a:srgbClr val="F2F7FC"/>
          </a:solidFill>
          <a:ln w="12700">
            <a:solidFill>
              <a:srgbClr val="F2F7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51760" y="256032"/>
            <a:ext cx="3410346" cy="347472"/>
          </a:xfrm>
          <a:prstGeom prst="roundRect">
            <a:avLst>
              <a:gd name="adj" fmla="val 15789"/>
            </a:avLst>
          </a:prstGeom>
          <a:solidFill>
            <a:srgbClr val="5C3BC2"/>
          </a:solidFill>
          <a:ln w="12700">
            <a:solidFill>
              <a:srgbClr val="5C3BC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743200" y="256032"/>
            <a:ext cx="331890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특징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2651760" y="667512"/>
            <a:ext cx="3410346" cy="6099048"/>
          </a:xfrm>
          <a:prstGeom prst="rect">
            <a:avLst/>
          </a:prstGeom>
          <a:noFill/>
          <a:ln/>
        </p:spPr>
        <p:txBody>
          <a:bodyPr wrap="square" lIns="635" tIns="1016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DW와 Data Lake를 포괄하는 데이터 통합 환경</a:t>
            </a:r>
            <a:endParaRPr lang="en-US" sz="1100" dirty="0"/>
          </a:p>
          <a:p>
            <a:pPr marL="0" indent="0" algn="l">
              <a:spcAft>
                <a:spcPts val="500"/>
              </a:spcAft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이기종 분산 시스템의 데이터에 통합 접근·활용 지원</a:t>
            </a:r>
            <a:endParaRPr lang="en-US" sz="1100" dirty="0"/>
          </a:p>
          <a:p>
            <a:pPr marL="0" indent="0" algn="l">
              <a:spcAft>
                <a:spcPts val="500"/>
              </a:spcAft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주요 구성: 거버넌스 · DW/레이크 · 데이터 가상화</a:t>
            </a:r>
            <a:endParaRPr lang="en-US" sz="1100" dirty="0"/>
          </a:p>
          <a:p>
            <a:pPr marL="0" indent="0" algn="l">
              <a:spcAft>
                <a:spcPts val="500"/>
              </a:spcAft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가상화로 분산 데이터를 논리적 통합하여 실시간 제공</a:t>
            </a:r>
            <a:endParaRPr lang="en-US" sz="1100" dirty="0"/>
          </a:p>
          <a:p>
            <a:pPr marL="0" indent="0" algn="l">
              <a:spcAft>
                <a:spcPts val="500"/>
              </a:spcAft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데이터 보안과 거버넌스를 중앙에서 일관 관리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274" y="256032"/>
            <a:ext cx="5605638" cy="347472"/>
          </a:xfrm>
          <a:prstGeom prst="roundRect">
            <a:avLst>
              <a:gd name="adj" fmla="val 15789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54714" y="256032"/>
            <a:ext cx="55141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✚  장점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63274" y="658368"/>
            <a:ext cx="5605638" cy="2487168"/>
          </a:xfrm>
          <a:prstGeom prst="roundRect">
            <a:avLst>
              <a:gd name="adj" fmla="val 2941"/>
            </a:avLst>
          </a:prstGeom>
          <a:solidFill>
            <a:srgbClr val="E6FBF5"/>
          </a:solidFill>
          <a:ln w="12700">
            <a:solidFill>
              <a:srgbClr val="02C39A">
                <a:alpha val="40000"/>
              </a:srgbClr>
            </a:solidFill>
            <a:prstDash val="solid"/>
          </a:ln>
          <a:effectLst>
            <a:outerShdw blurRad="50800" dist="25400" dir="8100000" algn="bl" rotWithShape="0">
              <a:srgbClr val="BBBBBB">
                <a:alpha val="2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391290" y="731520"/>
            <a:ext cx="534960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10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분산된 데이터를 위치·형식 무관하게 통합 활용</a:t>
            </a:r>
            <a:endParaRPr lang="en-US" sz="1100" dirty="0"/>
          </a:p>
          <a:p>
            <a:pPr marL="0" indent="0" algn="l">
              <a:spcAft>
                <a:spcPts val="500"/>
              </a:spcAft>
              <a:buNone/>
            </a:pPr>
            <a:r>
              <a:rPr lang="en-US" sz="110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데이터 접근·활용의 유연성을 극대화</a:t>
            </a:r>
            <a:endParaRPr lang="en-US" sz="1100" dirty="0"/>
          </a:p>
          <a:p>
            <a:pPr marL="0" indent="0" algn="l">
              <a:spcAft>
                <a:spcPts val="500"/>
              </a:spcAft>
              <a:buNone/>
            </a:pPr>
            <a:r>
              <a:rPr lang="en-US" sz="110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보안 및 거버넌스 정책의 중앙 집중 관리</a:t>
            </a:r>
            <a:endParaRPr lang="en-US" sz="1100" dirty="0"/>
          </a:p>
          <a:p>
            <a:pPr marL="0" indent="0" algn="l">
              <a:spcAft>
                <a:spcPts val="500"/>
              </a:spcAft>
              <a:buNone/>
            </a:pPr>
            <a:r>
              <a:rPr lang="en-US" sz="110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현업 사용자에게 필요 데이터를 실시간으로 제공</a:t>
            </a:r>
            <a:endParaRPr lang="en-US" sz="1100" dirty="0"/>
          </a:p>
          <a:p>
            <a:pPr marL="0" indent="0" algn="l">
              <a:spcAft>
                <a:spcPts val="500"/>
              </a:spcAft>
              <a:buNone/>
            </a:pPr>
            <a:r>
              <a:rPr lang="en-US" sz="110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다양한 환경 연결을 통한 교차 기능 분석 지원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63274" y="3310128"/>
            <a:ext cx="5605638" cy="347472"/>
          </a:xfrm>
          <a:prstGeom prst="roundRect">
            <a:avLst>
              <a:gd name="adj" fmla="val 15789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54714" y="3310128"/>
            <a:ext cx="55141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단점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63274" y="3712464"/>
            <a:ext cx="5605638" cy="2542032"/>
          </a:xfrm>
          <a:prstGeom prst="roundRect">
            <a:avLst>
              <a:gd name="adj" fmla="val 2878"/>
            </a:avLst>
          </a:prstGeom>
          <a:solidFill>
            <a:srgbClr val="FEF0F0"/>
          </a:solidFill>
          <a:ln w="12700">
            <a:solidFill>
              <a:srgbClr val="E85D5D">
                <a:alpha val="40000"/>
              </a:srgbClr>
            </a:solidFill>
            <a:prstDash val="solid"/>
          </a:ln>
          <a:effectLst>
            <a:outerShdw blurRad="50800" dist="25400" dir="8100000" algn="bl" rotWithShape="0">
              <a:srgbClr val="BBBBBB">
                <a:alpha val="2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391290" y="3785616"/>
            <a:ext cx="534960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100" dirty="0">
                <a:solidFill>
                  <a:srgbClr val="7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이기종 시스템 연결·통합으로 구축이 매우 복잡</a:t>
            </a:r>
            <a:endParaRPr lang="en-US" sz="1100" dirty="0"/>
          </a:p>
          <a:p>
            <a:pPr marL="0" indent="0" algn="l">
              <a:spcAft>
                <a:spcPts val="500"/>
              </a:spcAft>
              <a:buNone/>
            </a:pPr>
            <a:r>
              <a:rPr lang="en-US" sz="1100" dirty="0">
                <a:solidFill>
                  <a:srgbClr val="7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거버넌스·보안 정책의 체계적 관리 체계 필요</a:t>
            </a:r>
            <a:endParaRPr lang="en-US" sz="1100" dirty="0"/>
          </a:p>
          <a:p>
            <a:pPr marL="0" indent="0" algn="l">
              <a:spcAft>
                <a:spcPts val="500"/>
              </a:spcAft>
              <a:buNone/>
            </a:pPr>
            <a:r>
              <a:rPr lang="en-US" sz="1100" dirty="0">
                <a:solidFill>
                  <a:srgbClr val="7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데이터 가상화·통합 환경 구축에 전문 기술 역량 요구</a:t>
            </a:r>
            <a:endParaRPr lang="en-US" sz="1100" dirty="0"/>
          </a:p>
          <a:p>
            <a:pPr marL="0" indent="0" algn="l">
              <a:spcAft>
                <a:spcPts val="500"/>
              </a:spcAft>
              <a:buNone/>
            </a:pPr>
            <a:r>
              <a:rPr lang="en-US" sz="1100" dirty="0">
                <a:solidFill>
                  <a:srgbClr val="7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구축 및 운영 과정에서 높은 비용·관리 부담 발생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487168" y="6208776"/>
            <a:ext cx="9674352" cy="548640"/>
          </a:xfrm>
          <a:prstGeom prst="roundRect">
            <a:avLst>
              <a:gd name="adj" fmla="val 11667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624328" y="6245352"/>
            <a:ext cx="9400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발전 흐름:  데이터웨어하우스 (정형 · TB · Schema on Write)   →   데이터 레이크 (전형식 · PB · Schema on Read)   →   빅데이터 패브릭 (통합 · 실시간 · 거버넌스 내장)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495</Words>
  <Application>Microsoft Office PowerPoint</Application>
  <PresentationFormat>와이드스크린</PresentationFormat>
  <Paragraphs>76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</cp:lastModifiedBy>
  <cp:revision>1</cp:revision>
  <dcterms:created xsi:type="dcterms:W3CDTF">2026-08-27T14:20:58Z</dcterms:created>
  <dcterms:modified xsi:type="dcterms:W3CDTF">2026-08-27T14:24:15Z</dcterms:modified>
</cp:coreProperties>
</file>